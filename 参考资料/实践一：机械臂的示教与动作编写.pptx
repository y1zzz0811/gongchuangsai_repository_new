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3"/>
    <p:sldId id="258" r:id="rId4"/>
    <p:sldId id="259" r:id="rId5"/>
    <p:sldId id="538" r:id="rId6"/>
    <p:sldId id="539" r:id="rId7"/>
    <p:sldId id="545" r:id="rId8"/>
    <p:sldId id="547" r:id="rId9"/>
    <p:sldId id="546" r:id="rId10"/>
    <p:sldId id="542" r:id="rId11"/>
    <p:sldId id="550" r:id="rId12"/>
    <p:sldId id="391" r:id="rId13"/>
    <p:sldId id="551" r:id="rId14"/>
    <p:sldId id="552" r:id="rId15"/>
    <p:sldId id="554" r:id="rId16"/>
    <p:sldId id="555" r:id="rId17"/>
    <p:sldId id="557" r:id="rId18"/>
    <p:sldId id="579" r:id="rId19"/>
    <p:sldId id="560" r:id="rId20"/>
    <p:sldId id="565" r:id="rId21"/>
    <p:sldId id="574" r:id="rId22"/>
    <p:sldId id="566" r:id="rId23"/>
    <p:sldId id="567" r:id="rId25"/>
    <p:sldId id="568" r:id="rId26"/>
    <p:sldId id="569" r:id="rId27"/>
    <p:sldId id="595" r:id="rId28"/>
    <p:sldId id="570" r:id="rId29"/>
    <p:sldId id="577" r:id="rId30"/>
    <p:sldId id="576" r:id="rId31"/>
    <p:sldId id="575" r:id="rId32"/>
    <p:sldId id="578" r:id="rId33"/>
    <p:sldId id="603" r:id="rId34"/>
    <p:sldId id="573" r:id="rId35"/>
    <p:sldId id="605" r:id="rId36"/>
    <p:sldId id="606" r:id="rId37"/>
    <p:sldId id="607" r:id="rId38"/>
    <p:sldId id="604" r:id="rId39"/>
  </p:sldIdLst>
  <p:sldSz cx="12192000" cy="6858000"/>
  <p:notesSz cx="6858000" cy="9144000"/>
  <p:embeddedFontLst>
    <p:embeddedFont>
      <p:font typeface="华文中宋" panose="02010600040101010101" charset="-122"/>
      <p:regular r:id="rId43"/>
    </p:embeddedFont>
    <p:embeddedFont>
      <p:font typeface="汉仪雅酷黑 55W" panose="020B0504020202020204" pitchFamily="34" charset="-122"/>
      <p:regular r:id="rId44"/>
    </p:embeddedFont>
    <p:embeddedFont>
      <p:font typeface="微软雅黑" panose="020B0503020204020204" charset="-122"/>
      <p:regular r:id="rId45"/>
    </p:embeddedFont>
    <p:embeddedFont>
      <p:font typeface="汉仪润圆-65简" panose="00020600040101010101" pitchFamily="18" charset="-122"/>
      <p:regular r:id="rId46"/>
    </p:embeddedFont>
    <p:embeddedFont>
      <p:font typeface="汉仪典雅体简" panose="00020600040101010101" pitchFamily="18" charset="-122"/>
      <p:regular r:id="rId47"/>
    </p:embeddedFont>
    <p:embeddedFont>
      <p:font typeface="Calibri Light" panose="020F0302020204030204" charset="0"/>
      <p:regular r:id="rId48"/>
      <p:italic r:id="rId49"/>
    </p:embeddedFont>
    <p:embeddedFont>
      <p:font typeface="Calibri" panose="020F0502020204030204" charset="0"/>
      <p:regular r:id="rId50"/>
      <p:bold r:id="rId51"/>
      <p:italic r:id="rId52"/>
      <p:boldItalic r:id="rId53"/>
    </p:embeddedFont>
    <p:embeddedFont>
      <p:font typeface="等线" panose="02010600030101010101" charset="-122"/>
      <p:regular r:id="rId54"/>
    </p:embeddedFont>
  </p:embeddedFontLst>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DED"/>
    <a:srgbClr val="7D8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gs" Target="tags/tag32.xml"/><Relationship Id="rId54" Type="http://schemas.openxmlformats.org/officeDocument/2006/relationships/font" Target="fonts/font12.fntdata"/><Relationship Id="rId53" Type="http://schemas.openxmlformats.org/officeDocument/2006/relationships/font" Target="fonts/font11.fntdata"/><Relationship Id="rId52" Type="http://schemas.openxmlformats.org/officeDocument/2006/relationships/font" Target="fonts/font10.fntdata"/><Relationship Id="rId51" Type="http://schemas.openxmlformats.org/officeDocument/2006/relationships/font" Target="fonts/font9.fntdata"/><Relationship Id="rId50" Type="http://schemas.openxmlformats.org/officeDocument/2006/relationships/font" Target="fonts/font8.fntdata"/><Relationship Id="rId5" Type="http://schemas.openxmlformats.org/officeDocument/2006/relationships/slide" Target="slides/slide3.xml"/><Relationship Id="rId49" Type="http://schemas.openxmlformats.org/officeDocument/2006/relationships/font" Target="fonts/font7.fntdata"/><Relationship Id="rId48" Type="http://schemas.openxmlformats.org/officeDocument/2006/relationships/font" Target="fonts/font6.fntdata"/><Relationship Id="rId47" Type="http://schemas.openxmlformats.org/officeDocument/2006/relationships/font" Target="fonts/font5.fntdata"/><Relationship Id="rId46" Type="http://schemas.openxmlformats.org/officeDocument/2006/relationships/font" Target="fonts/font4.fntdata"/><Relationship Id="rId45" Type="http://schemas.openxmlformats.org/officeDocument/2006/relationships/font" Target="fonts/font3.fntdata"/><Relationship Id="rId44" Type="http://schemas.openxmlformats.org/officeDocument/2006/relationships/font" Target="fonts/font2.fntdata"/><Relationship Id="rId43" Type="http://schemas.openxmlformats.org/officeDocument/2006/relationships/font" Target="fonts/font1.fntdata"/><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8146131-62CC-4AFB-8743-6014F2A4787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4FCE44A-2334-4B32-8FFF-46C9CBCA1613}"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146131-62CC-4AFB-8743-6014F2A4787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FCE44A-2334-4B32-8FFF-46C9CBCA161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tags" Target="../tags/tag3.xml"/><Relationship Id="rId2" Type="http://schemas.openxmlformats.org/officeDocument/2006/relationships/image" Target="../media/image7.png"/><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tags" Target="../tags/tag5.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tags" Target="../tags/tag6.xml"/><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2" Type="http://schemas.openxmlformats.org/officeDocument/2006/relationships/slideLayout" Target="../slideLayouts/slideLayout2.xml"/><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tags" Target="../tags/tag15.xml"/><Relationship Id="rId4" Type="http://schemas.openxmlformats.org/officeDocument/2006/relationships/image" Target="../media/image23.png"/><Relationship Id="rId3" Type="http://schemas.openxmlformats.org/officeDocument/2006/relationships/tags" Target="../tags/tag14.xml"/><Relationship Id="rId2" Type="http://schemas.openxmlformats.org/officeDocument/2006/relationships/image" Target="../media/image22.png"/><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tags" Target="../tags/tag16.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30.png"/><Relationship Id="rId3" Type="http://schemas.openxmlformats.org/officeDocument/2006/relationships/image" Target="../media/image25.png"/><Relationship Id="rId2" Type="http://schemas.openxmlformats.org/officeDocument/2006/relationships/tags" Target="../tags/tag17.xml"/><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tags" Target="../tags/tag19.xml"/><Relationship Id="rId3" Type="http://schemas.openxmlformats.org/officeDocument/2006/relationships/image" Target="../media/image32.png"/><Relationship Id="rId2" Type="http://schemas.openxmlformats.org/officeDocument/2006/relationships/tags" Target="../tags/tag18.xml"/><Relationship Id="rId1" Type="http://schemas.openxmlformats.org/officeDocument/2006/relationships/image" Target="../media/image31.jpe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tags" Target="../tags/tag2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tags" Target="../tags/tag2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2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tags" Target="../tags/tag2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25.xml"/></Relationships>
</file>

<file path=ppt/slides/_rels/slide31.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2" Type="http://schemas.openxmlformats.org/officeDocument/2006/relationships/slideLayout" Target="../slideLayouts/slideLayout2.xml"/><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tags" Target="../tags/tag2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68" name="图片 67"/>
          <p:cNvPicPr>
            <a:picLocks noChangeAspect="1"/>
          </p:cNvPicPr>
          <p:nvPr/>
        </p:nvPicPr>
        <p:blipFill rotWithShape="1">
          <a:blip r:embed="rId1" cstate="print">
            <a:extLst>
              <a:ext uri="{28A0092B-C50C-407E-A947-70E740481C1C}">
                <a14:useLocalDpi xmlns:a14="http://schemas.microsoft.com/office/drawing/2010/main" val="0"/>
              </a:ext>
            </a:extLst>
          </a:blip>
          <a:srcRect t="5820" b="1233"/>
          <a:stretch>
            <a:fillRect/>
          </a:stretch>
        </p:blipFill>
        <p:spPr>
          <a:xfrm>
            <a:off x="251791" y="251792"/>
            <a:ext cx="11635407" cy="6374296"/>
          </a:xfrm>
          <a:custGeom>
            <a:avLst/>
            <a:gdLst>
              <a:gd name="connsiteX0" fmla="*/ 300931 w 11635407"/>
              <a:gd name="connsiteY0" fmla="*/ 0 h 6374296"/>
              <a:gd name="connsiteX1" fmla="*/ 11334478 w 11635407"/>
              <a:gd name="connsiteY1" fmla="*/ 0 h 6374296"/>
              <a:gd name="connsiteX2" fmla="*/ 11611760 w 11635407"/>
              <a:gd name="connsiteY2" fmla="*/ 183795 h 6374296"/>
              <a:gd name="connsiteX3" fmla="*/ 11635407 w 11635407"/>
              <a:gd name="connsiteY3" fmla="*/ 300922 h 6374296"/>
              <a:gd name="connsiteX4" fmla="*/ 11635407 w 11635407"/>
              <a:gd name="connsiteY4" fmla="*/ 6073375 h 6374296"/>
              <a:gd name="connsiteX5" fmla="*/ 11611760 w 11635407"/>
              <a:gd name="connsiteY5" fmla="*/ 6190501 h 6374296"/>
              <a:gd name="connsiteX6" fmla="*/ 11334478 w 11635407"/>
              <a:gd name="connsiteY6" fmla="*/ 6374296 h 6374296"/>
              <a:gd name="connsiteX7" fmla="*/ 300931 w 11635407"/>
              <a:gd name="connsiteY7" fmla="*/ 6374296 h 6374296"/>
              <a:gd name="connsiteX8" fmla="*/ 0 w 11635407"/>
              <a:gd name="connsiteY8" fmla="*/ 6073365 h 6374296"/>
              <a:gd name="connsiteX9" fmla="*/ 0 w 11635407"/>
              <a:gd name="connsiteY9" fmla="*/ 300931 h 6374296"/>
              <a:gd name="connsiteX10" fmla="*/ 300931 w 11635407"/>
              <a:gd name="connsiteY10" fmla="*/ 0 h 6374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35407" h="6374296">
                <a:moveTo>
                  <a:pt x="300931" y="0"/>
                </a:moveTo>
                <a:lnTo>
                  <a:pt x="11334478" y="0"/>
                </a:lnTo>
                <a:cubicBezTo>
                  <a:pt x="11459128" y="0"/>
                  <a:pt x="11566077" y="75786"/>
                  <a:pt x="11611760" y="183795"/>
                </a:cubicBezTo>
                <a:lnTo>
                  <a:pt x="11635407" y="300922"/>
                </a:lnTo>
                <a:lnTo>
                  <a:pt x="11635407" y="6073375"/>
                </a:lnTo>
                <a:lnTo>
                  <a:pt x="11611760" y="6190501"/>
                </a:lnTo>
                <a:cubicBezTo>
                  <a:pt x="11566077" y="6298510"/>
                  <a:pt x="11459128" y="6374296"/>
                  <a:pt x="11334478" y="6374296"/>
                </a:cubicBezTo>
                <a:lnTo>
                  <a:pt x="300931" y="6374296"/>
                </a:lnTo>
                <a:cubicBezTo>
                  <a:pt x="134731" y="6374296"/>
                  <a:pt x="0" y="6239565"/>
                  <a:pt x="0" y="6073365"/>
                </a:cubicBezTo>
                <a:lnTo>
                  <a:pt x="0" y="300931"/>
                </a:lnTo>
                <a:cubicBezTo>
                  <a:pt x="0" y="134731"/>
                  <a:pt x="134731" y="0"/>
                  <a:pt x="300931" y="0"/>
                </a:cubicBezTo>
                <a:close/>
              </a:path>
            </a:pathLst>
          </a:custGeom>
        </p:spPr>
      </p:pic>
      <p:sp>
        <p:nvSpPr>
          <p:cNvPr id="67" name="圆角矩形 66"/>
          <p:cNvSpPr/>
          <p:nvPr/>
        </p:nvSpPr>
        <p:spPr>
          <a:xfrm>
            <a:off x="268252" y="240561"/>
            <a:ext cx="11656411" cy="6385802"/>
          </a:xfrm>
          <a:prstGeom prst="roundRect">
            <a:avLst>
              <a:gd name="adj" fmla="val 4721"/>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eaLnBrk="0" hangingPunct="0">
              <a:lnSpc>
                <a:spcPct val="90000"/>
              </a:lnSpc>
            </a:pPr>
            <a:r>
              <a:rPr lang="zh-CN" altLang="en-US" sz="8000" b="1"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rPr>
              <a:t>智能物流搬运</a:t>
            </a:r>
            <a:r>
              <a:rPr lang="zh-CN" altLang="en-US" sz="8000" b="1"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rPr>
              <a:t>机器人</a:t>
            </a:r>
            <a:r>
              <a:rPr lang="zh-CN" altLang="en-US" sz="8000" b="1"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rPr>
              <a:t>应用</a:t>
            </a:r>
            <a:endParaRPr lang="zh-CN" altLang="en-US" sz="8000" b="1"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endParaRPr>
          </a:p>
          <a:p>
            <a:pPr algn="r" eaLnBrk="0" hangingPunct="0">
              <a:lnSpc>
                <a:spcPct val="90000"/>
              </a:lnSpc>
            </a:pPr>
            <a:endParaRPr lang="en-US" altLang="zh-CN" sz="6000"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endParaRPr>
          </a:p>
          <a:p>
            <a:pPr algn="r" eaLnBrk="0" hangingPunct="0">
              <a:lnSpc>
                <a:spcPct val="90000"/>
              </a:lnSpc>
            </a:pPr>
            <a:r>
              <a:rPr lang="en-US" altLang="zh-CN" sz="6000"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rPr>
              <a:t>—</a:t>
            </a:r>
            <a:r>
              <a:rPr lang="zh-CN" altLang="en-US" sz="6000"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rPr>
              <a:t>机械臂示教与动作编写</a:t>
            </a:r>
            <a:endParaRPr lang="zh-CN" altLang="en-US" sz="6000" dirty="0">
              <a:solidFill>
                <a:schemeClr val="bg2">
                  <a:lumMod val="10000"/>
                </a:schemeClr>
              </a:solidFill>
              <a:latin typeface="华文中宋" panose="02010600040101010101" charset="-122"/>
              <a:ea typeface="华文中宋" panose="02010600040101010101" charset="-122"/>
              <a:cs typeface="华文中宋" panose="02010600040101010101" charset="-122"/>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bldLst>
      <p:bldP spid="67"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6" name="圆角矩形 45"/>
          <p:cNvSpPr/>
          <p:nvPr/>
        </p:nvSpPr>
        <p:spPr>
          <a:xfrm>
            <a:off x="251791" y="251792"/>
            <a:ext cx="11635409" cy="6374296"/>
          </a:xfrm>
          <a:prstGeom prst="roundRect">
            <a:avLst>
              <a:gd name="adj" fmla="val 4721"/>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227933" y="2372137"/>
            <a:ext cx="1723549" cy="1015663"/>
          </a:xfrm>
          <a:prstGeom prst="rect">
            <a:avLst/>
          </a:prstGeom>
          <a:noFill/>
        </p:spPr>
        <p:txBody>
          <a:bodyPr wrap="none" rtlCol="0">
            <a:spAutoFit/>
          </a:bodyPr>
          <a:lstStyle/>
          <a:p>
            <a:r>
              <a:rPr lang="zh-CN" altLang="en-US" sz="6000" dirty="0">
                <a:latin typeface="汉仪雅酷黑 55W" panose="020B0504020202020204" pitchFamily="34" charset="-122"/>
                <a:ea typeface="汉仪雅酷黑 55W" panose="020B0504020202020204" pitchFamily="34" charset="-122"/>
              </a:rPr>
              <a:t>目录</a:t>
            </a:r>
            <a:endParaRPr lang="zh-CN" altLang="en-US" sz="6000" dirty="0">
              <a:latin typeface="汉仪雅酷黑 55W" panose="020B0504020202020204" pitchFamily="34" charset="-122"/>
              <a:ea typeface="汉仪雅酷黑 55W" panose="020B0504020202020204" pitchFamily="34" charset="-122"/>
            </a:endParaRPr>
          </a:p>
        </p:txBody>
      </p:sp>
      <p:sp>
        <p:nvSpPr>
          <p:cNvPr id="3" name="文本框 2"/>
          <p:cNvSpPr txBox="1"/>
          <p:nvPr/>
        </p:nvSpPr>
        <p:spPr>
          <a:xfrm>
            <a:off x="1654057" y="3387800"/>
            <a:ext cx="2871299" cy="707886"/>
          </a:xfrm>
          <a:prstGeom prst="rect">
            <a:avLst/>
          </a:prstGeom>
          <a:noFill/>
        </p:spPr>
        <p:txBody>
          <a:bodyPr wrap="none" rtlCol="0">
            <a:spAutoFit/>
          </a:bodyPr>
          <a:lstStyle/>
          <a:p>
            <a:r>
              <a:rPr lang="en-US" altLang="zh-CN" sz="4000" dirty="0" smtClean="0">
                <a:latin typeface="汉仪雅酷黑 55W" panose="020B0504020202020204" pitchFamily="34" charset="-122"/>
                <a:ea typeface="汉仪雅酷黑 55W" panose="020B0504020202020204" pitchFamily="34" charset="-122"/>
              </a:rPr>
              <a:t>CONTENTS</a:t>
            </a:r>
            <a:endParaRPr lang="zh-CN" altLang="en-US" sz="4000" dirty="0">
              <a:latin typeface="汉仪雅酷黑 55W" panose="020B0504020202020204" pitchFamily="34" charset="-122"/>
              <a:ea typeface="汉仪雅酷黑 55W" panose="020B0504020202020204" pitchFamily="34" charset="-122"/>
            </a:endParaRPr>
          </a:p>
        </p:txBody>
      </p:sp>
      <p:cxnSp>
        <p:nvCxnSpPr>
          <p:cNvPr id="5" name="直接连接符 4"/>
          <p:cNvCxnSpPr/>
          <p:nvPr/>
        </p:nvCxnSpPr>
        <p:spPr>
          <a:xfrm>
            <a:off x="2339792" y="4280451"/>
            <a:ext cx="149983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6030272" y="1328460"/>
            <a:ext cx="4099560" cy="706755"/>
          </a:xfrm>
          <a:prstGeom prst="rect">
            <a:avLst/>
          </a:prstGeom>
          <a:noFill/>
        </p:spPr>
        <p:txBody>
          <a:bodyPr wrap="none" rtlCol="0">
            <a:spAutoFit/>
          </a:bodyPr>
          <a:lstStyle/>
          <a:p>
            <a:r>
              <a:rPr lang="en-US" altLang="zh-CN" sz="4000" u="sng" dirty="0" smtClean="0">
                <a:latin typeface="微软雅黑" panose="020B0503020204020204" charset="-122"/>
                <a:ea typeface="微软雅黑" panose="020B0503020204020204" charset="-122"/>
                <a:cs typeface="微软雅黑" panose="020B0503020204020204" charset="-122"/>
              </a:rPr>
              <a:t>01</a:t>
            </a:r>
            <a:r>
              <a:rPr lang="en-US" altLang="zh-CN" sz="4000" dirty="0" smtClean="0">
                <a:latin typeface="微软雅黑" panose="020B0503020204020204" charset="-122"/>
                <a:ea typeface="微软雅黑" panose="020B0503020204020204" charset="-122"/>
                <a:cs typeface="微软雅黑" panose="020B0503020204020204" charset="-122"/>
              </a:rPr>
              <a:t>. </a:t>
            </a:r>
            <a:r>
              <a:rPr lang="zh-CN" sz="4000" dirty="0" smtClean="0">
                <a:latin typeface="微软雅黑" panose="020B0503020204020204" charset="-122"/>
                <a:ea typeface="微软雅黑" panose="020B0503020204020204" charset="-122"/>
                <a:cs typeface="微软雅黑" panose="020B0503020204020204" charset="-122"/>
              </a:rPr>
              <a:t>舵机调试接线</a:t>
            </a:r>
            <a:endParaRPr lang="zh-CN" sz="4000" dirty="0" smtClean="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6030272" y="2566468"/>
            <a:ext cx="4485005" cy="706755"/>
          </a:xfrm>
          <a:prstGeom prst="rect">
            <a:avLst/>
          </a:prstGeom>
          <a:noFill/>
        </p:spPr>
        <p:txBody>
          <a:bodyPr wrap="none" rtlCol="0">
            <a:spAutoFit/>
          </a:bodyPr>
          <a:lstStyle/>
          <a:p>
            <a:pPr algn="l"/>
            <a:r>
              <a:rPr lang="en-US" altLang="zh-CN" sz="4000" u="sng" dirty="0" smtClean="0">
                <a:latin typeface="微软雅黑" panose="020B0503020204020204" charset="-122"/>
                <a:ea typeface="微软雅黑" panose="020B0503020204020204" charset="-122"/>
                <a:cs typeface="微软雅黑" panose="020B0503020204020204" charset="-122"/>
              </a:rPr>
              <a:t>02</a:t>
            </a:r>
            <a:r>
              <a:rPr lang="en-US" altLang="zh-CN" sz="4000" dirty="0">
                <a:latin typeface="微软雅黑" panose="020B0503020204020204" charset="-122"/>
                <a:ea typeface="微软雅黑" panose="020B0503020204020204" charset="-122"/>
                <a:cs typeface="微软雅黑" panose="020B0503020204020204" charset="-122"/>
              </a:rPr>
              <a:t>.</a:t>
            </a:r>
            <a:r>
              <a:rPr lang="zh-CN" altLang="en-US" sz="4000" dirty="0">
                <a:latin typeface="微软雅黑" panose="020B0503020204020204" charset="-122"/>
                <a:ea typeface="微软雅黑" panose="020B0503020204020204" charset="-122"/>
                <a:cs typeface="微软雅黑" panose="020B0503020204020204" charset="-122"/>
              </a:rPr>
              <a:t>舵机</a:t>
            </a:r>
            <a:r>
              <a:rPr lang="en-US" altLang="zh-CN" sz="4000" dirty="0" smtClean="0">
                <a:latin typeface="微软雅黑" panose="020B0503020204020204" charset="-122"/>
                <a:ea typeface="微软雅黑" panose="020B0503020204020204" charset="-122"/>
                <a:cs typeface="微软雅黑" panose="020B0503020204020204" charset="-122"/>
                <a:sym typeface="+mn-ea"/>
              </a:rPr>
              <a:t>ID</a:t>
            </a:r>
            <a:r>
              <a:rPr lang="zh-CN" altLang="en-US" sz="4000" dirty="0" smtClean="0">
                <a:latin typeface="微软雅黑" panose="020B0503020204020204" charset="-122"/>
                <a:ea typeface="微软雅黑" panose="020B0503020204020204" charset="-122"/>
                <a:cs typeface="微软雅黑" panose="020B0503020204020204" charset="-122"/>
                <a:sym typeface="+mn-ea"/>
              </a:rPr>
              <a:t>号的修改</a:t>
            </a:r>
            <a:endParaRPr lang="zh-CN" sz="4000" dirty="0">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6030272" y="3786833"/>
            <a:ext cx="4607560" cy="706755"/>
          </a:xfrm>
          <a:prstGeom prst="rect">
            <a:avLst/>
          </a:prstGeom>
          <a:noFill/>
        </p:spPr>
        <p:txBody>
          <a:bodyPr wrap="none" rtlCol="0">
            <a:spAutoFit/>
          </a:bodyPr>
          <a:lstStyle/>
          <a:p>
            <a:pPr algn="l"/>
            <a:r>
              <a:rPr lang="en-US" altLang="zh-CN" sz="4000" u="sng" dirty="0" smtClean="0">
                <a:latin typeface="微软雅黑" panose="020B0503020204020204" charset="-122"/>
                <a:ea typeface="微软雅黑" panose="020B0503020204020204" charset="-122"/>
                <a:cs typeface="微软雅黑" panose="020B0503020204020204" charset="-122"/>
              </a:rPr>
              <a:t>03</a:t>
            </a:r>
            <a:r>
              <a:rPr lang="en-US" altLang="zh-CN" sz="4000" dirty="0" smtClean="0">
                <a:latin typeface="微软雅黑" panose="020B0503020204020204" charset="-122"/>
                <a:ea typeface="微软雅黑" panose="020B0503020204020204" charset="-122"/>
                <a:cs typeface="微软雅黑" panose="020B0503020204020204" charset="-122"/>
              </a:rPr>
              <a:t>.</a:t>
            </a:r>
            <a:r>
              <a:rPr lang="zh-CN" sz="4000" dirty="0" smtClean="0">
                <a:latin typeface="微软雅黑" panose="020B0503020204020204" charset="-122"/>
                <a:ea typeface="微软雅黑" panose="020B0503020204020204" charset="-122"/>
                <a:cs typeface="微软雅黑" panose="020B0503020204020204" charset="-122"/>
                <a:sym typeface="+mn-ea"/>
              </a:rPr>
              <a:t>上位机功能按键</a:t>
            </a:r>
            <a:r>
              <a:rPr lang="en-US" altLang="zh-CN" sz="4000" dirty="0" smtClean="0">
                <a:latin typeface="微软雅黑" panose="020B0503020204020204" charset="-122"/>
                <a:ea typeface="微软雅黑" panose="020B0503020204020204" charset="-122"/>
                <a:cs typeface="微软雅黑" panose="020B0503020204020204" charset="-122"/>
              </a:rPr>
              <a:t> </a:t>
            </a:r>
            <a:endParaRPr lang="zh-CN" altLang="en-US" sz="4000" dirty="0">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6030272" y="4890006"/>
            <a:ext cx="4250055" cy="706755"/>
          </a:xfrm>
          <a:prstGeom prst="rect">
            <a:avLst/>
          </a:prstGeom>
          <a:noFill/>
        </p:spPr>
        <p:txBody>
          <a:bodyPr wrap="none" rtlCol="0">
            <a:spAutoFit/>
          </a:bodyPr>
          <a:lstStyle/>
          <a:p>
            <a:pPr algn="l"/>
            <a:r>
              <a:rPr lang="en-US" altLang="zh-CN" sz="4000" u="sng" dirty="0" smtClean="0">
                <a:latin typeface="微软雅黑" panose="020B0503020204020204" charset="-122"/>
                <a:ea typeface="微软雅黑" panose="020B0503020204020204" charset="-122"/>
                <a:cs typeface="微软雅黑" panose="020B0503020204020204" charset="-122"/>
              </a:rPr>
              <a:t>04</a:t>
            </a:r>
            <a:r>
              <a:rPr lang="en-US" altLang="zh-CN" sz="4000" dirty="0" smtClean="0">
                <a:latin typeface="微软雅黑" panose="020B0503020204020204" charset="-122"/>
                <a:ea typeface="微软雅黑" panose="020B0503020204020204" charset="-122"/>
                <a:cs typeface="微软雅黑" panose="020B0503020204020204" charset="-122"/>
              </a:rPr>
              <a:t>.</a:t>
            </a:r>
            <a:r>
              <a:rPr lang="zh-CN" altLang="en-US" sz="4000" dirty="0" smtClean="0">
                <a:latin typeface="微软雅黑" panose="020B0503020204020204" charset="-122"/>
                <a:ea typeface="微软雅黑" panose="020B0503020204020204" charset="-122"/>
                <a:cs typeface="微软雅黑" panose="020B0503020204020204" charset="-122"/>
                <a:sym typeface="+mn-ea"/>
              </a:rPr>
              <a:t>机械臂</a:t>
            </a:r>
            <a:r>
              <a:rPr lang="zh-CN" altLang="en-US" sz="4000" dirty="0" smtClean="0">
                <a:latin typeface="微软雅黑" panose="020B0503020204020204" charset="-122"/>
                <a:ea typeface="微软雅黑" panose="020B0503020204020204" charset="-122"/>
                <a:cs typeface="微软雅黑" panose="020B0503020204020204" charset="-122"/>
                <a:sym typeface="+mn-ea"/>
              </a:rPr>
              <a:t>动作组</a:t>
            </a:r>
            <a:r>
              <a:rPr lang="en-US" altLang="zh-CN" sz="4000" dirty="0" smtClean="0">
                <a:latin typeface="微软雅黑" panose="020B0503020204020204" charset="-122"/>
                <a:ea typeface="微软雅黑" panose="020B0503020204020204" charset="-122"/>
                <a:cs typeface="微软雅黑" panose="020B0503020204020204" charset="-122"/>
                <a:sym typeface="+mn-ea"/>
              </a:rPr>
              <a:t> </a:t>
            </a:r>
            <a:r>
              <a:rPr lang="en-US" altLang="zh-CN" sz="4000" dirty="0" smtClean="0">
                <a:latin typeface="微软雅黑" panose="020B0503020204020204" charset="-122"/>
                <a:ea typeface="微软雅黑" panose="020B0503020204020204" charset="-122"/>
                <a:cs typeface="微软雅黑" panose="020B0503020204020204" charset="-122"/>
              </a:rPr>
              <a:t> </a:t>
            </a:r>
            <a:endParaRPr lang="zh-CN" altLang="en-US" sz="4000" dirty="0" smtClean="0">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bldLst>
      <p:bldP spid="2" grpId="0"/>
      <p:bldP spid="6" grpId="0"/>
      <p:bldP spid="16" grpId="0"/>
      <p:bldP spid="17" grpId="0"/>
      <p:bldP spid="18" grpId="0"/>
      <p:bldP spid="46"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6" name="圆角矩形 45"/>
          <p:cNvSpPr/>
          <p:nvPr/>
        </p:nvSpPr>
        <p:spPr>
          <a:xfrm>
            <a:off x="251791" y="251792"/>
            <a:ext cx="11635409" cy="6374296"/>
          </a:xfrm>
          <a:prstGeom prst="roundRect">
            <a:avLst>
              <a:gd name="adj" fmla="val 4721"/>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591338" y="1510748"/>
            <a:ext cx="7209183" cy="36045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89822" y="1860822"/>
            <a:ext cx="4136335" cy="2757557"/>
          </a:xfrm>
          <a:prstGeom prst="rect">
            <a:avLst/>
          </a:prstGeom>
        </p:spPr>
      </p:pic>
      <p:sp>
        <p:nvSpPr>
          <p:cNvPr id="7" name="矩形 6"/>
          <p:cNvSpPr/>
          <p:nvPr/>
        </p:nvSpPr>
        <p:spPr>
          <a:xfrm>
            <a:off x="1389822" y="1860822"/>
            <a:ext cx="4136335" cy="2757557"/>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97506" y="2854879"/>
            <a:ext cx="3535680" cy="768350"/>
          </a:xfrm>
          <a:prstGeom prst="rect">
            <a:avLst/>
          </a:prstGeom>
          <a:noFill/>
        </p:spPr>
        <p:txBody>
          <a:bodyPr wrap="none" rtlCol="0">
            <a:spAutoFit/>
          </a:bodyPr>
          <a:lstStyle/>
          <a:p>
            <a:pPr algn="l"/>
            <a:r>
              <a:rPr lang="zh-CN" sz="4400" dirty="0" smtClean="0">
                <a:latin typeface="微软雅黑" panose="020B0503020204020204" charset="-122"/>
                <a:ea typeface="微软雅黑" panose="020B0503020204020204" charset="-122"/>
                <a:cs typeface="微软雅黑" panose="020B0503020204020204" charset="-122"/>
                <a:sym typeface="+mn-ea"/>
              </a:rPr>
              <a:t>舵机调试接线</a:t>
            </a:r>
            <a:endParaRPr lang="zh-CN" sz="4400" dirty="0">
              <a:latin typeface="汉仪雅酷黑 55W" panose="020B0504020202020204" pitchFamily="34" charset="-122"/>
              <a:ea typeface="汉仪雅酷黑 55W" panose="020B0504020202020204" pitchFamily="34" charset="-122"/>
            </a:endParaRPr>
          </a:p>
        </p:txBody>
      </p:sp>
      <p:sp>
        <p:nvSpPr>
          <p:cNvPr id="12" name="文本框 11"/>
          <p:cNvSpPr txBox="1"/>
          <p:nvPr/>
        </p:nvSpPr>
        <p:spPr>
          <a:xfrm>
            <a:off x="4035343" y="2685601"/>
            <a:ext cx="1284326" cy="1107996"/>
          </a:xfrm>
          <a:prstGeom prst="rect">
            <a:avLst/>
          </a:prstGeom>
          <a:noFill/>
        </p:spPr>
        <p:txBody>
          <a:bodyPr wrap="none" rtlCol="0">
            <a:spAutoFit/>
          </a:bodyPr>
          <a:lstStyle/>
          <a:p>
            <a:r>
              <a:rPr lang="en-US" altLang="zh-CN" sz="6600" dirty="0" smtClean="0">
                <a:solidFill>
                  <a:schemeClr val="bg1"/>
                </a:solidFill>
                <a:latin typeface="汉仪润圆-65简" panose="00020600040101010101" pitchFamily="18" charset="-122"/>
                <a:ea typeface="汉仪润圆-65简" panose="00020600040101010101" pitchFamily="18" charset="-122"/>
              </a:rPr>
              <a:t>01</a:t>
            </a:r>
            <a:endParaRPr lang="zh-CN" altLang="en-US" sz="6600" dirty="0">
              <a:solidFill>
                <a:schemeClr val="bg1"/>
              </a:solidFill>
              <a:latin typeface="汉仪润圆-65简" panose="00020600040101010101" pitchFamily="18" charset="-122"/>
              <a:ea typeface="汉仪润圆-65简" panose="00020600040101010101" pitchFamily="18" charset="-122"/>
            </a:endParaRPr>
          </a:p>
        </p:txBody>
      </p:sp>
      <p:sp>
        <p:nvSpPr>
          <p:cNvPr id="19" name="等腰三角形 18"/>
          <p:cNvSpPr/>
          <p:nvPr/>
        </p:nvSpPr>
        <p:spPr>
          <a:xfrm rot="5400000">
            <a:off x="5639013" y="3065621"/>
            <a:ext cx="474818" cy="386566"/>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舵机调试USB口，通过USB延长线与电脑连接</a:t>
            </a:r>
            <a:endParaRPr lang="zh-CN" altLang="en-US"/>
          </a:p>
        </p:txBody>
      </p:sp>
      <p:pic>
        <p:nvPicPr>
          <p:cNvPr id="34" name="图片 2"/>
          <p:cNvPicPr>
            <a:picLocks noChangeAspect="1"/>
          </p:cNvPicPr>
          <p:nvPr/>
        </p:nvPicPr>
        <p:blipFill>
          <a:blip r:embed="rId1"/>
          <a:stretch>
            <a:fillRect/>
          </a:stretch>
        </p:blipFill>
        <p:spPr>
          <a:xfrm>
            <a:off x="1771015" y="1326515"/>
            <a:ext cx="8241665" cy="3748405"/>
          </a:xfrm>
          <a:prstGeom prst="rect">
            <a:avLst/>
          </a:prstGeom>
          <a:noFill/>
          <a:ln>
            <a:noFill/>
          </a:ln>
        </p:spPr>
      </p:pic>
      <p:sp>
        <p:nvSpPr>
          <p:cNvPr id="3" name="文本框 2"/>
          <p:cNvSpPr txBox="1"/>
          <p:nvPr/>
        </p:nvSpPr>
        <p:spPr>
          <a:xfrm>
            <a:off x="284480" y="5280025"/>
            <a:ext cx="10360660" cy="829945"/>
          </a:xfrm>
          <a:prstGeom prst="rect">
            <a:avLst/>
          </a:prstGeom>
          <a:noFill/>
        </p:spPr>
        <p:txBody>
          <a:bodyPr wrap="square" rtlCol="0">
            <a:spAutoFit/>
          </a:bodyPr>
          <a:p>
            <a:r>
              <a:rPr lang="zh-CN" altLang="en-US" sz="2400"/>
              <a:t>绿色对应</a:t>
            </a:r>
            <a:r>
              <a:rPr lang="en-US" altLang="zh-CN" sz="2400"/>
              <a:t>TX</a:t>
            </a:r>
            <a:r>
              <a:rPr lang="zh-CN" altLang="en-US" sz="2400"/>
              <a:t>，连接到信号板的</a:t>
            </a:r>
            <a:r>
              <a:rPr lang="en-US" altLang="zh-CN" sz="2400"/>
              <a:t>TX</a:t>
            </a:r>
            <a:r>
              <a:rPr lang="zh-CN" altLang="en-US" sz="2400"/>
              <a:t>接口，黄色对应</a:t>
            </a:r>
            <a:r>
              <a:rPr lang="en-US" altLang="zh-CN" sz="2400"/>
              <a:t>RX</a:t>
            </a:r>
            <a:r>
              <a:rPr lang="zh-CN" altLang="en-US" sz="2400"/>
              <a:t>，</a:t>
            </a:r>
            <a:r>
              <a:rPr lang="zh-CN" altLang="en-US" sz="2400">
                <a:sym typeface="+mn-ea"/>
              </a:rPr>
              <a:t>连接到信号板的</a:t>
            </a:r>
            <a:r>
              <a:rPr lang="en-US" altLang="zh-CN" sz="2400">
                <a:sym typeface="+mn-ea"/>
              </a:rPr>
              <a:t>RX</a:t>
            </a:r>
            <a:r>
              <a:rPr lang="zh-CN" altLang="en-US" sz="2400">
                <a:sym typeface="+mn-ea"/>
              </a:rPr>
              <a:t>接口，</a:t>
            </a:r>
            <a:endParaRPr lang="zh-CN" altLang="en-US" sz="2400">
              <a:sym typeface="+mn-ea"/>
            </a:endParaRPr>
          </a:p>
          <a:p>
            <a:r>
              <a:rPr lang="en-US" altLang="zh-CN" sz="2400">
                <a:sym typeface="+mn-ea"/>
              </a:rPr>
              <a:t>G</a:t>
            </a:r>
            <a:r>
              <a:rPr lang="zh-CN" altLang="en-US" sz="2400">
                <a:sym typeface="+mn-ea"/>
              </a:rPr>
              <a:t>接</a:t>
            </a:r>
            <a:r>
              <a:rPr lang="en-US" altLang="zh-CN" sz="2400">
                <a:sym typeface="+mn-ea"/>
              </a:rPr>
              <a:t>GND</a:t>
            </a:r>
            <a:r>
              <a:rPr lang="zh-CN" altLang="en-US" sz="2400">
                <a:sym typeface="+mn-ea"/>
              </a:rPr>
              <a:t>，</a:t>
            </a:r>
            <a:r>
              <a:rPr lang="en-US" altLang="zh-CN" sz="2400">
                <a:sym typeface="+mn-ea"/>
              </a:rPr>
              <a:t>V</a:t>
            </a:r>
            <a:r>
              <a:rPr lang="zh-CN" altLang="en-US" sz="2400">
                <a:sym typeface="+mn-ea"/>
              </a:rPr>
              <a:t>不连接</a:t>
            </a:r>
            <a:endParaRPr lang="zh-CN" altLang="en-US" sz="240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	</a:t>
            </a:r>
            <a:r>
              <a:rPr lang="zh-CN" altLang="en-US"/>
              <a:t>舵机调试板拨码开关右拨（串口才能够检测到）</a:t>
            </a:r>
            <a:endParaRPr lang="zh-CN" altLang="en-US"/>
          </a:p>
        </p:txBody>
      </p:sp>
      <p:pic>
        <p:nvPicPr>
          <p:cNvPr id="40" name="图片 3"/>
          <p:cNvPicPr>
            <a:picLocks noChangeAspect="1"/>
          </p:cNvPicPr>
          <p:nvPr/>
        </p:nvPicPr>
        <p:blipFill>
          <a:blip r:embed="rId1"/>
          <a:stretch>
            <a:fillRect/>
          </a:stretch>
        </p:blipFill>
        <p:spPr>
          <a:xfrm>
            <a:off x="1475105" y="1488440"/>
            <a:ext cx="9242425" cy="4886960"/>
          </a:xfrm>
          <a:prstGeom prst="rect">
            <a:avLst/>
          </a:prstGeom>
          <a:noFill/>
          <a:ln>
            <a:noFill/>
          </a:ln>
        </p:spPr>
      </p:pic>
      <p:sp>
        <p:nvSpPr>
          <p:cNvPr id="6" name="右箭头 5"/>
          <p:cNvSpPr/>
          <p:nvPr/>
        </p:nvSpPr>
        <p:spPr>
          <a:xfrm rot="16200000">
            <a:off x="6465570" y="5459730"/>
            <a:ext cx="1243330" cy="9124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6" name="圆角矩形 45"/>
          <p:cNvSpPr/>
          <p:nvPr/>
        </p:nvSpPr>
        <p:spPr>
          <a:xfrm>
            <a:off x="251791" y="251792"/>
            <a:ext cx="11635409" cy="6374296"/>
          </a:xfrm>
          <a:prstGeom prst="roundRect">
            <a:avLst>
              <a:gd name="adj" fmla="val 4721"/>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591338" y="1510748"/>
            <a:ext cx="7209183" cy="36045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89822" y="1860822"/>
            <a:ext cx="4136335" cy="2757557"/>
          </a:xfrm>
          <a:prstGeom prst="rect">
            <a:avLst/>
          </a:prstGeom>
        </p:spPr>
      </p:pic>
      <p:sp>
        <p:nvSpPr>
          <p:cNvPr id="7" name="矩形 6"/>
          <p:cNvSpPr/>
          <p:nvPr/>
        </p:nvSpPr>
        <p:spPr>
          <a:xfrm>
            <a:off x="1389822" y="1860822"/>
            <a:ext cx="4136335" cy="2757557"/>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97506" y="2854879"/>
            <a:ext cx="2976880" cy="768350"/>
          </a:xfrm>
          <a:prstGeom prst="rect">
            <a:avLst/>
          </a:prstGeom>
          <a:noFill/>
        </p:spPr>
        <p:txBody>
          <a:bodyPr wrap="none" rtlCol="0">
            <a:spAutoFit/>
          </a:bodyPr>
          <a:lstStyle/>
          <a:p>
            <a:r>
              <a:rPr lang="zh-CN" altLang="en-US" sz="4400" dirty="0">
                <a:latin typeface="汉仪雅酷黑 55W" panose="020B0504020202020204" pitchFamily="34" charset="-122"/>
                <a:ea typeface="汉仪雅酷黑 55W" panose="020B0504020202020204" pitchFamily="34" charset="-122"/>
              </a:rPr>
              <a:t>舵机</a:t>
            </a:r>
            <a:r>
              <a:rPr lang="en-US" altLang="zh-CN" sz="4400" dirty="0">
                <a:latin typeface="汉仪雅酷黑 55W" panose="020B0504020202020204" pitchFamily="34" charset="-122"/>
                <a:ea typeface="汉仪雅酷黑 55W" panose="020B0504020202020204" pitchFamily="34" charset="-122"/>
              </a:rPr>
              <a:t>ID</a:t>
            </a:r>
            <a:r>
              <a:rPr lang="zh-CN" altLang="en-US" sz="4400" dirty="0">
                <a:latin typeface="汉仪雅酷黑 55W" panose="020B0504020202020204" pitchFamily="34" charset="-122"/>
                <a:ea typeface="汉仪雅酷黑 55W" panose="020B0504020202020204" pitchFamily="34" charset="-122"/>
              </a:rPr>
              <a:t>顺序</a:t>
            </a:r>
            <a:endParaRPr lang="zh-CN" altLang="en-US" sz="4400" dirty="0">
              <a:latin typeface="汉仪雅酷黑 55W" panose="020B0504020202020204" pitchFamily="34" charset="-122"/>
              <a:ea typeface="汉仪雅酷黑 55W" panose="020B0504020202020204" pitchFamily="34" charset="-122"/>
            </a:endParaRPr>
          </a:p>
        </p:txBody>
      </p:sp>
      <p:sp>
        <p:nvSpPr>
          <p:cNvPr id="12" name="文本框 11"/>
          <p:cNvSpPr txBox="1"/>
          <p:nvPr/>
        </p:nvSpPr>
        <p:spPr>
          <a:xfrm>
            <a:off x="4035343" y="2685601"/>
            <a:ext cx="1284326" cy="1107996"/>
          </a:xfrm>
          <a:prstGeom prst="rect">
            <a:avLst/>
          </a:prstGeom>
          <a:noFill/>
        </p:spPr>
        <p:txBody>
          <a:bodyPr wrap="none" rtlCol="0">
            <a:spAutoFit/>
          </a:bodyPr>
          <a:lstStyle/>
          <a:p>
            <a:r>
              <a:rPr lang="en-US" altLang="zh-CN" sz="6600" dirty="0" smtClean="0">
                <a:solidFill>
                  <a:schemeClr val="bg1"/>
                </a:solidFill>
                <a:latin typeface="汉仪润圆-65简" panose="00020600040101010101" pitchFamily="18" charset="-122"/>
                <a:ea typeface="汉仪润圆-65简" panose="00020600040101010101" pitchFamily="18" charset="-122"/>
              </a:rPr>
              <a:t>02</a:t>
            </a:r>
            <a:endParaRPr lang="zh-CN" altLang="en-US" sz="6600" dirty="0">
              <a:solidFill>
                <a:schemeClr val="bg1"/>
              </a:solidFill>
              <a:latin typeface="汉仪润圆-65简" panose="00020600040101010101" pitchFamily="18" charset="-122"/>
              <a:ea typeface="汉仪润圆-65简" panose="00020600040101010101" pitchFamily="18" charset="-122"/>
            </a:endParaRPr>
          </a:p>
        </p:txBody>
      </p:sp>
      <p:sp>
        <p:nvSpPr>
          <p:cNvPr id="8" name="等腰三角形 7"/>
          <p:cNvSpPr/>
          <p:nvPr/>
        </p:nvSpPr>
        <p:spPr>
          <a:xfrm rot="5400000">
            <a:off x="5639013" y="3065621"/>
            <a:ext cx="474818" cy="386566"/>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64565" y="2103120"/>
            <a:ext cx="10515600" cy="1325563"/>
          </a:xfrm>
        </p:spPr>
        <p:txBody>
          <a:bodyPr>
            <a:normAutofit fontScale="90000"/>
          </a:bodyPr>
          <a:p>
            <a:r>
              <a:rPr lang="en-US" altLang="zh-CN" dirty="0" smtClean="0">
                <a:latin typeface="汉仪典雅体简" panose="00020600040101010101" pitchFamily="18" charset="-122"/>
                <a:ea typeface="汉仪典雅体简" panose="00020600040101010101" pitchFamily="18" charset="-122"/>
                <a:sym typeface="+mn-ea"/>
              </a:rPr>
              <a:t>	</a:t>
            </a:r>
            <a:r>
              <a:rPr lang="zh-CN" altLang="en-US" dirty="0" smtClean="0">
                <a:latin typeface="汉仪典雅体简" panose="00020600040101010101" pitchFamily="18" charset="-122"/>
                <a:ea typeface="汉仪典雅体简" panose="00020600040101010101" pitchFamily="18" charset="-122"/>
                <a:sym typeface="+mn-ea"/>
              </a:rPr>
              <a:t>每个舵机出厂的默认ID都是1，为了实现串联控制，在将每个舵机串联在一起前必须先将4个舵机的ID分别单独设置为1、2、3、4（在设置舵机</a:t>
            </a:r>
            <a:r>
              <a:rPr lang="en-US" altLang="zh-CN" dirty="0" smtClean="0">
                <a:latin typeface="汉仪典雅体简" panose="00020600040101010101" pitchFamily="18" charset="-122"/>
                <a:ea typeface="汉仪典雅体简" panose="00020600040101010101" pitchFamily="18" charset="-122"/>
                <a:sym typeface="+mn-ea"/>
              </a:rPr>
              <a:t>ID</a:t>
            </a:r>
            <a:r>
              <a:rPr lang="zh-CN" altLang="en-US" dirty="0" smtClean="0">
                <a:latin typeface="汉仪典雅体简" panose="00020600040101010101" pitchFamily="18" charset="-122"/>
                <a:ea typeface="汉仪典雅体简" panose="00020600040101010101" pitchFamily="18" charset="-122"/>
                <a:sym typeface="+mn-ea"/>
              </a:rPr>
              <a:t>时将他与默认的舵机断开连接）</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	</a:t>
            </a:r>
            <a:r>
              <a:rPr lang="zh-CN" altLang="en-US"/>
              <a:t>舵机以下图顺序进行连接</a:t>
            </a:r>
            <a:endParaRPr lang="zh-CN" altLang="en-US"/>
          </a:p>
        </p:txBody>
      </p:sp>
      <p:sp>
        <p:nvSpPr>
          <p:cNvPr id="5" name="文本框 4"/>
          <p:cNvSpPr txBox="1"/>
          <p:nvPr/>
        </p:nvSpPr>
        <p:spPr>
          <a:xfrm>
            <a:off x="6138545" y="2385060"/>
            <a:ext cx="5520690" cy="3538220"/>
          </a:xfrm>
          <a:prstGeom prst="rect">
            <a:avLst/>
          </a:prstGeom>
          <a:noFill/>
        </p:spPr>
        <p:txBody>
          <a:bodyPr wrap="square" rtlCol="0">
            <a:spAutoFit/>
          </a:bodyPr>
          <a:p>
            <a:pPr indent="457200"/>
            <a:r>
              <a:rPr lang="zh-CN" sz="3200"/>
              <a:t>主信号线连接的</a:t>
            </a:r>
            <a:r>
              <a:rPr lang="zh-CN" altLang="en-US" sz="3200"/>
              <a:t>先后顺序为</a:t>
            </a:r>
            <a:r>
              <a:rPr lang="en-US" altLang="zh-CN" sz="3200"/>
              <a:t>3421</a:t>
            </a:r>
            <a:r>
              <a:rPr lang="zh-CN" altLang="en-US" sz="3200"/>
              <a:t>。</a:t>
            </a:r>
            <a:endParaRPr lang="zh-CN" altLang="en-US" sz="3200"/>
          </a:p>
          <a:p>
            <a:pPr indent="457200"/>
            <a:r>
              <a:rPr lang="zh-CN" altLang="en-US" sz="3200"/>
              <a:t>图中蓝色标识的信号线为主信号线，将舵机驱动板与第一个</a:t>
            </a:r>
            <a:r>
              <a:rPr lang="en-US" altLang="zh-CN" sz="3200"/>
              <a:t>3</a:t>
            </a:r>
            <a:r>
              <a:rPr lang="zh-CN" altLang="en-US" sz="3200"/>
              <a:t>号位置的舵机</a:t>
            </a:r>
            <a:r>
              <a:rPr lang="zh-CN" altLang="en-US" sz="3200">
                <a:sym typeface="+mn-ea"/>
              </a:rPr>
              <a:t>连接。</a:t>
            </a:r>
            <a:endParaRPr lang="zh-CN" altLang="en-US" sz="3200">
              <a:sym typeface="+mn-ea"/>
            </a:endParaRPr>
          </a:p>
          <a:p>
            <a:pPr indent="457200"/>
            <a:r>
              <a:rPr lang="en-US" altLang="zh-CN" sz="3200">
                <a:sym typeface="+mn-ea"/>
              </a:rPr>
              <a:t>3</a:t>
            </a:r>
            <a:r>
              <a:rPr lang="zh-CN" altLang="en-US" sz="3200">
                <a:sym typeface="+mn-ea"/>
              </a:rPr>
              <a:t>号舵机由另一端信号口与</a:t>
            </a:r>
            <a:r>
              <a:rPr lang="en-US" altLang="zh-CN" sz="3200">
                <a:sym typeface="+mn-ea"/>
              </a:rPr>
              <a:t>4</a:t>
            </a:r>
            <a:r>
              <a:rPr lang="zh-CN" altLang="en-US" sz="3200">
                <a:sym typeface="+mn-ea"/>
              </a:rPr>
              <a:t>号舵机连接。</a:t>
            </a:r>
            <a:endParaRPr lang="zh-CN" altLang="en-US" sz="3200">
              <a:sym typeface="+mn-ea"/>
            </a:endParaRPr>
          </a:p>
        </p:txBody>
      </p:sp>
      <p:pic>
        <p:nvPicPr>
          <p:cNvPr id="46" name="图片 8"/>
          <p:cNvPicPr>
            <a:picLocks noChangeAspect="1"/>
          </p:cNvPicPr>
          <p:nvPr/>
        </p:nvPicPr>
        <p:blipFill>
          <a:blip r:embed="rId1"/>
          <a:stretch>
            <a:fillRect/>
          </a:stretch>
        </p:blipFill>
        <p:spPr>
          <a:xfrm>
            <a:off x="1169670" y="1691005"/>
            <a:ext cx="3769360" cy="495427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	</a:t>
            </a:r>
            <a:r>
              <a:rPr lang="zh-CN" altLang="en-US"/>
              <a:t>按下</a:t>
            </a:r>
            <a:r>
              <a:rPr lang="zh-CN" altLang="en-US"/>
              <a:t>开关，通过上位机进行舵机驱动板端口检测</a:t>
            </a:r>
            <a:endParaRPr lang="zh-CN" altLang="en-US"/>
          </a:p>
        </p:txBody>
      </p:sp>
      <p:pic>
        <p:nvPicPr>
          <p:cNvPr id="9" name="图片 1"/>
          <p:cNvPicPr>
            <a:picLocks noChangeAspect="1"/>
          </p:cNvPicPr>
          <p:nvPr>
            <p:custDataLst>
              <p:tags r:id="rId1"/>
            </p:custDataLst>
          </p:nvPr>
        </p:nvPicPr>
        <p:blipFill>
          <a:blip r:embed="rId2"/>
          <a:srcRect b="4655"/>
          <a:stretch>
            <a:fillRect/>
          </a:stretch>
        </p:blipFill>
        <p:spPr>
          <a:xfrm>
            <a:off x="4202430" y="2411095"/>
            <a:ext cx="2762885" cy="279654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 name="图片 9"/>
          <p:cNvPicPr>
            <a:picLocks noChangeAspect="1"/>
          </p:cNvPicPr>
          <p:nvPr>
            <p:custDataLst>
              <p:tags r:id="rId1"/>
            </p:custDataLst>
          </p:nvPr>
        </p:nvPicPr>
        <p:blipFill>
          <a:blip r:embed="rId2"/>
          <a:stretch>
            <a:fillRect/>
          </a:stretch>
        </p:blipFill>
        <p:spPr>
          <a:xfrm>
            <a:off x="181610" y="3317875"/>
            <a:ext cx="1799590" cy="2896870"/>
          </a:xfrm>
          <a:prstGeom prst="rect">
            <a:avLst/>
          </a:prstGeom>
          <a:noFill/>
          <a:ln>
            <a:noFill/>
          </a:ln>
        </p:spPr>
      </p:pic>
      <p:sp>
        <p:nvSpPr>
          <p:cNvPr id="4" name="文本框 3"/>
          <p:cNvSpPr txBox="1"/>
          <p:nvPr/>
        </p:nvSpPr>
        <p:spPr>
          <a:xfrm>
            <a:off x="5908040" y="1668780"/>
            <a:ext cx="5646420" cy="1938020"/>
          </a:xfrm>
          <a:prstGeom prst="rect">
            <a:avLst/>
          </a:prstGeom>
          <a:noFill/>
        </p:spPr>
        <p:txBody>
          <a:bodyPr wrap="square" rtlCol="0">
            <a:spAutoFit/>
          </a:bodyPr>
          <a:p>
            <a:pPr indent="457200"/>
            <a:r>
              <a:rPr lang="zh-CN" altLang="en-US" sz="2400">
                <a:sym typeface="+mn-ea"/>
              </a:rPr>
              <a:t>打开机械臂上位机软件，先进行端口号选择，波特率选择</a:t>
            </a:r>
            <a:r>
              <a:rPr lang="en-US" altLang="zh-CN" sz="2400">
                <a:sym typeface="+mn-ea"/>
              </a:rPr>
              <a:t>1000000</a:t>
            </a:r>
            <a:r>
              <a:rPr lang="zh-CN" altLang="en-US" sz="2400">
                <a:sym typeface="+mn-ea"/>
              </a:rPr>
              <a:t>，开启连接，如果舵机列表能检测到</a:t>
            </a:r>
            <a:r>
              <a:rPr lang="en-US" altLang="zh-CN" sz="2400">
                <a:sym typeface="+mn-ea"/>
              </a:rPr>
              <a:t>4</a:t>
            </a:r>
            <a:r>
              <a:rPr lang="zh-CN" altLang="en-US" sz="2400">
                <a:sym typeface="+mn-ea"/>
              </a:rPr>
              <a:t>个舵机，表示这个机械臂舵机</a:t>
            </a:r>
            <a:r>
              <a:rPr lang="en-US" altLang="zh-CN" sz="2400">
                <a:sym typeface="+mn-ea"/>
              </a:rPr>
              <a:t>ID</a:t>
            </a:r>
            <a:r>
              <a:rPr lang="zh-CN" altLang="en-US" sz="2400">
                <a:sym typeface="+mn-ea"/>
              </a:rPr>
              <a:t>号已经修改好了不需要再进行修改</a:t>
            </a:r>
            <a:endParaRPr lang="zh-CN" altLang="en-US" sz="2400">
              <a:sym typeface="+mn-ea"/>
            </a:endParaRPr>
          </a:p>
        </p:txBody>
      </p:sp>
      <p:pic>
        <p:nvPicPr>
          <p:cNvPr id="20" name="图片 3"/>
          <p:cNvPicPr>
            <a:picLocks noChangeAspect="1"/>
          </p:cNvPicPr>
          <p:nvPr>
            <p:custDataLst>
              <p:tags r:id="rId3"/>
            </p:custDataLst>
          </p:nvPr>
        </p:nvPicPr>
        <p:blipFill>
          <a:blip r:embed="rId4"/>
          <a:srcRect b="46135"/>
          <a:stretch>
            <a:fillRect/>
          </a:stretch>
        </p:blipFill>
        <p:spPr>
          <a:xfrm>
            <a:off x="217805" y="148590"/>
            <a:ext cx="5233670" cy="316928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6" name="圆角矩形 45"/>
          <p:cNvSpPr/>
          <p:nvPr/>
        </p:nvSpPr>
        <p:spPr>
          <a:xfrm>
            <a:off x="251791" y="251792"/>
            <a:ext cx="11635409" cy="6374296"/>
          </a:xfrm>
          <a:prstGeom prst="roundRect">
            <a:avLst>
              <a:gd name="adj" fmla="val 4721"/>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591338" y="1510748"/>
            <a:ext cx="7209183" cy="36045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89822" y="1860822"/>
            <a:ext cx="4136335" cy="2757557"/>
          </a:xfrm>
          <a:prstGeom prst="rect">
            <a:avLst/>
          </a:prstGeom>
        </p:spPr>
      </p:pic>
      <p:sp>
        <p:nvSpPr>
          <p:cNvPr id="7" name="矩形 6"/>
          <p:cNvSpPr/>
          <p:nvPr/>
        </p:nvSpPr>
        <p:spPr>
          <a:xfrm>
            <a:off x="1389822" y="1860822"/>
            <a:ext cx="4136335" cy="2757557"/>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97506" y="2854879"/>
            <a:ext cx="4094480" cy="768350"/>
          </a:xfrm>
          <a:prstGeom prst="rect">
            <a:avLst/>
          </a:prstGeom>
          <a:noFill/>
        </p:spPr>
        <p:txBody>
          <a:bodyPr wrap="none" rtlCol="0">
            <a:spAutoFit/>
          </a:bodyPr>
          <a:lstStyle/>
          <a:p>
            <a:pPr algn="l"/>
            <a:r>
              <a:rPr lang="zh-CN" sz="4400" dirty="0" smtClean="0">
                <a:latin typeface="微软雅黑" panose="020B0503020204020204" charset="-122"/>
                <a:ea typeface="微软雅黑" panose="020B0503020204020204" charset="-122"/>
                <a:cs typeface="微软雅黑" panose="020B0503020204020204" charset="-122"/>
                <a:sym typeface="+mn-ea"/>
              </a:rPr>
              <a:t>上位机功能按键</a:t>
            </a:r>
            <a:endParaRPr lang="zh-CN" altLang="en-US" sz="4400" dirty="0">
              <a:latin typeface="汉仪雅酷黑 55W" panose="020B0504020202020204" pitchFamily="34" charset="-122"/>
              <a:ea typeface="汉仪雅酷黑 55W" panose="020B0504020202020204" pitchFamily="34" charset="-122"/>
            </a:endParaRPr>
          </a:p>
        </p:txBody>
      </p:sp>
      <p:sp>
        <p:nvSpPr>
          <p:cNvPr id="12" name="文本框 11"/>
          <p:cNvSpPr txBox="1"/>
          <p:nvPr/>
        </p:nvSpPr>
        <p:spPr>
          <a:xfrm>
            <a:off x="4035343" y="2685601"/>
            <a:ext cx="1272540" cy="1106805"/>
          </a:xfrm>
          <a:prstGeom prst="rect">
            <a:avLst/>
          </a:prstGeom>
          <a:noFill/>
        </p:spPr>
        <p:txBody>
          <a:bodyPr wrap="none" rtlCol="0">
            <a:spAutoFit/>
          </a:bodyPr>
          <a:lstStyle/>
          <a:p>
            <a:r>
              <a:rPr lang="en-US" altLang="zh-CN" sz="6600" dirty="0" smtClean="0">
                <a:solidFill>
                  <a:schemeClr val="bg1"/>
                </a:solidFill>
                <a:latin typeface="汉仪润圆-65简" panose="00020600040101010101" pitchFamily="18" charset="-122"/>
                <a:ea typeface="汉仪润圆-65简" panose="00020600040101010101" pitchFamily="18" charset="-122"/>
              </a:rPr>
              <a:t>03</a:t>
            </a:r>
            <a:endParaRPr lang="zh-CN" altLang="en-US" sz="6600" dirty="0">
              <a:solidFill>
                <a:schemeClr val="bg1"/>
              </a:solidFill>
              <a:latin typeface="汉仪润圆-65简" panose="00020600040101010101" pitchFamily="18" charset="-122"/>
              <a:ea typeface="汉仪润圆-65简" panose="00020600040101010101" pitchFamily="18" charset="-122"/>
            </a:endParaRPr>
          </a:p>
        </p:txBody>
      </p:sp>
      <p:sp>
        <p:nvSpPr>
          <p:cNvPr id="8" name="等腰三角形 7"/>
          <p:cNvSpPr/>
          <p:nvPr/>
        </p:nvSpPr>
        <p:spPr>
          <a:xfrm rot="5400000">
            <a:off x="5639013" y="3065621"/>
            <a:ext cx="474818" cy="386566"/>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各功能按键的使用方法</a:t>
            </a:r>
            <a:endParaRPr lang="zh-CN" altLang="en-US"/>
          </a:p>
        </p:txBody>
      </p:sp>
      <p:sp>
        <p:nvSpPr>
          <p:cNvPr id="100" name="文本框 99"/>
          <p:cNvSpPr txBox="1"/>
          <p:nvPr/>
        </p:nvSpPr>
        <p:spPr>
          <a:xfrm>
            <a:off x="6468110" y="1852295"/>
            <a:ext cx="5080000" cy="1938020"/>
          </a:xfrm>
          <a:prstGeom prst="rect">
            <a:avLst/>
          </a:prstGeom>
          <a:noFill/>
          <a:ln w="9525">
            <a:noFill/>
          </a:ln>
        </p:spPr>
        <p:txBody>
          <a:bodyPr>
            <a:spAutoFit/>
          </a:bodyPr>
          <a:p>
            <a:pPr indent="266700" algn="l"/>
            <a:r>
              <a:rPr lang="zh-CN" sz="4000" b="0">
                <a:ea typeface="等线" panose="02010600030101010101" charset="-122"/>
              </a:rPr>
              <a:t>连接</a:t>
            </a:r>
            <a:r>
              <a:rPr lang="en-US" sz="4000" b="0">
                <a:latin typeface="等线" panose="02010600030101010101" charset="-122"/>
              </a:rPr>
              <a:t>4</a:t>
            </a:r>
            <a:r>
              <a:rPr lang="zh-CN" sz="4000" b="0">
                <a:ea typeface="等线" panose="02010600030101010101" charset="-122"/>
              </a:rPr>
              <a:t>个舵机后，上位机正常显示舵机数据。</a:t>
            </a:r>
            <a:endParaRPr lang="zh-CN" altLang="en-US" sz="4000" b="0">
              <a:ea typeface="等线" panose="02010600030101010101" charset="-122"/>
            </a:endParaRPr>
          </a:p>
        </p:txBody>
      </p:sp>
      <p:pic>
        <p:nvPicPr>
          <p:cNvPr id="3" name="图片 2"/>
          <p:cNvPicPr>
            <a:picLocks noChangeAspect="1"/>
          </p:cNvPicPr>
          <p:nvPr/>
        </p:nvPicPr>
        <p:blipFill>
          <a:blip r:embed="rId1"/>
          <a:stretch>
            <a:fillRect/>
          </a:stretch>
        </p:blipFill>
        <p:spPr>
          <a:xfrm>
            <a:off x="914400" y="1573530"/>
            <a:ext cx="5181600" cy="49720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3556000" y="231775"/>
            <a:ext cx="5080000" cy="768350"/>
          </a:xfrm>
          <a:prstGeom prst="rect">
            <a:avLst/>
          </a:prstGeom>
          <a:noFill/>
          <a:ln w="9525">
            <a:noFill/>
          </a:ln>
        </p:spPr>
        <p:txBody>
          <a:bodyPr>
            <a:spAutoFit/>
          </a:bodyPr>
          <a:p>
            <a:pPr indent="0" algn="ctr"/>
            <a:r>
              <a:rPr lang="zh-CN" sz="4400" b="1">
                <a:ea typeface="等线" panose="02010600030101010101" charset="-122"/>
              </a:rPr>
              <a:t>舵机复位</a:t>
            </a:r>
            <a:endParaRPr lang="zh-CN" altLang="en-US" sz="4400" b="1">
              <a:ea typeface="等线" panose="02010600030101010101" charset="-122"/>
            </a:endParaRPr>
          </a:p>
        </p:txBody>
      </p:sp>
      <p:sp>
        <p:nvSpPr>
          <p:cNvPr id="4" name="文本框 3"/>
          <p:cNvSpPr txBox="1"/>
          <p:nvPr/>
        </p:nvSpPr>
        <p:spPr>
          <a:xfrm>
            <a:off x="845185" y="4777105"/>
            <a:ext cx="5080000" cy="1753235"/>
          </a:xfrm>
          <a:prstGeom prst="rect">
            <a:avLst/>
          </a:prstGeom>
          <a:noFill/>
          <a:ln w="9525">
            <a:noFill/>
          </a:ln>
        </p:spPr>
        <p:txBody>
          <a:bodyPr>
            <a:spAutoFit/>
          </a:bodyPr>
          <a:p>
            <a:pPr indent="266700"/>
            <a:r>
              <a:rPr lang="zh-CN" b="1">
                <a:ea typeface="等线" panose="02010600030101010101" charset="-122"/>
              </a:rPr>
              <a:t>将机械臂移动至一个固定的复位动作</a:t>
            </a:r>
            <a:r>
              <a:rPr lang="zh-CN" b="1">
                <a:solidFill>
                  <a:srgbClr val="FF0000"/>
                </a:solidFill>
                <a:ea typeface="等线" panose="02010600030101010101" charset="-122"/>
              </a:rPr>
              <a:t>如图所示</a:t>
            </a:r>
            <a:r>
              <a:rPr lang="zh-CN" b="1">
                <a:ea typeface="等线" panose="02010600030101010101" charset="-122"/>
              </a:rPr>
              <a:t>，点击复位，可实现多个机械臂相同参数所执行的动作相同，减少舵机角度调参的重复工作。方便机械臂动作组的编写，移植。如果换了其中一个舵机，也可以通过舵机复位，动作参数就不用重新修改。</a:t>
            </a:r>
            <a:endParaRPr lang="zh-CN" altLang="en-US" b="1">
              <a:ea typeface="等线" panose="02010600030101010101" charset="-122"/>
            </a:endParaRPr>
          </a:p>
        </p:txBody>
      </p:sp>
      <p:pic>
        <p:nvPicPr>
          <p:cNvPr id="29" name="图片 11"/>
          <p:cNvPicPr>
            <a:picLocks noChangeAspect="1"/>
          </p:cNvPicPr>
          <p:nvPr>
            <p:custDataLst>
              <p:tags r:id="rId1"/>
            </p:custDataLst>
          </p:nvPr>
        </p:nvPicPr>
        <p:blipFill>
          <a:blip r:embed="rId2"/>
          <a:stretch>
            <a:fillRect/>
          </a:stretch>
        </p:blipFill>
        <p:spPr>
          <a:xfrm>
            <a:off x="845185" y="1508760"/>
            <a:ext cx="3785870" cy="2485390"/>
          </a:xfrm>
          <a:prstGeom prst="rect">
            <a:avLst/>
          </a:prstGeom>
          <a:noFill/>
          <a:ln>
            <a:noFill/>
          </a:ln>
        </p:spPr>
      </p:pic>
      <p:pic>
        <p:nvPicPr>
          <p:cNvPr id="28" name="图片 28" descr="20eeb4a1009910f82198bbedf88eba1"/>
          <p:cNvPicPr>
            <a:picLocks noChangeAspect="1"/>
          </p:cNvPicPr>
          <p:nvPr/>
        </p:nvPicPr>
        <p:blipFill>
          <a:blip r:embed="rId3"/>
          <a:stretch>
            <a:fillRect/>
          </a:stretch>
        </p:blipFill>
        <p:spPr>
          <a:xfrm>
            <a:off x="6209030" y="1508760"/>
            <a:ext cx="5261610" cy="421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639445" y="517525"/>
            <a:ext cx="5456555" cy="5664200"/>
          </a:xfrm>
          <a:prstGeom prst="rect">
            <a:avLst/>
          </a:prstGeom>
        </p:spPr>
      </p:pic>
      <p:sp>
        <p:nvSpPr>
          <p:cNvPr id="101" name="文本框 100"/>
          <p:cNvSpPr txBox="1"/>
          <p:nvPr/>
        </p:nvSpPr>
        <p:spPr>
          <a:xfrm>
            <a:off x="6385560" y="1139825"/>
            <a:ext cx="5080000" cy="1060450"/>
          </a:xfrm>
          <a:prstGeom prst="rect">
            <a:avLst/>
          </a:prstGeom>
          <a:noFill/>
          <a:ln w="9525">
            <a:noFill/>
          </a:ln>
        </p:spPr>
        <p:txBody>
          <a:bodyPr>
            <a:spAutoFit/>
          </a:bodyPr>
          <a:p>
            <a:pPr indent="0"/>
            <a:r>
              <a:rPr lang="zh-CN" sz="2700" b="1">
                <a:ea typeface="等线" panose="02010600030101010101" charset="-122"/>
              </a:rPr>
              <a:t>实际参数：</a:t>
            </a:r>
            <a:endParaRPr lang="zh-CN" b="0">
              <a:ea typeface="等线" panose="02010600030101010101" charset="-122"/>
            </a:endParaRPr>
          </a:p>
          <a:p>
            <a:pPr indent="0"/>
            <a:r>
              <a:rPr lang="en-US" altLang="zh-CN" b="0">
                <a:ea typeface="等线" panose="02010600030101010101" charset="-122"/>
              </a:rPr>
              <a:t>	</a:t>
            </a:r>
            <a:r>
              <a:rPr lang="zh-CN" b="0">
                <a:ea typeface="等线" panose="02010600030101010101" charset="-122"/>
              </a:rPr>
              <a:t>可实时显示舵机的位置参数，可以通过他对当前舵机的位置参数值进行记录，</a:t>
            </a:r>
            <a:endParaRPr lang="zh-CN" altLang="en-US" b="0">
              <a:ea typeface="等线" panose="02010600030101010101" charset="-122"/>
            </a:endParaRPr>
          </a:p>
        </p:txBody>
      </p:sp>
      <p:sp>
        <p:nvSpPr>
          <p:cNvPr id="5" name="文本框 4"/>
          <p:cNvSpPr txBox="1"/>
          <p:nvPr/>
        </p:nvSpPr>
        <p:spPr>
          <a:xfrm>
            <a:off x="6334760" y="2514600"/>
            <a:ext cx="5080000" cy="521970"/>
          </a:xfrm>
          <a:prstGeom prst="rect">
            <a:avLst/>
          </a:prstGeom>
          <a:noFill/>
          <a:ln w="9525">
            <a:noFill/>
          </a:ln>
        </p:spPr>
        <p:txBody>
          <a:bodyPr>
            <a:spAutoFit/>
          </a:bodyPr>
          <a:p>
            <a:pPr indent="0"/>
            <a:r>
              <a:rPr lang="zh-CN" sz="2800" b="1">
                <a:ea typeface="等线" panose="02010600030101010101" charset="-122"/>
              </a:rPr>
              <a:t>目标参数：</a:t>
            </a:r>
            <a:endParaRPr lang="zh-CN" altLang="en-US" sz="2800" b="1">
              <a:ea typeface="等线" panose="02010600030101010101" charset="-122"/>
            </a:endParaRPr>
          </a:p>
        </p:txBody>
      </p:sp>
      <p:pic>
        <p:nvPicPr>
          <p:cNvPr id="6" name="图片 5"/>
          <p:cNvPicPr/>
          <p:nvPr/>
        </p:nvPicPr>
        <p:blipFill>
          <a:blip r:embed="rId3"/>
          <a:stretch>
            <a:fillRect/>
          </a:stretch>
        </p:blipFill>
        <p:spPr>
          <a:xfrm>
            <a:off x="8175625" y="3000375"/>
            <a:ext cx="1499870" cy="698500"/>
          </a:xfrm>
          <a:prstGeom prst="rect">
            <a:avLst/>
          </a:prstGeom>
          <a:noFill/>
          <a:ln w="9525">
            <a:noFill/>
          </a:ln>
        </p:spPr>
      </p:pic>
      <p:sp>
        <p:nvSpPr>
          <p:cNvPr id="102" name="文本框 101"/>
          <p:cNvSpPr txBox="1"/>
          <p:nvPr/>
        </p:nvSpPr>
        <p:spPr>
          <a:xfrm>
            <a:off x="6334760" y="3811270"/>
            <a:ext cx="5080000" cy="645160"/>
          </a:xfrm>
          <a:prstGeom prst="rect">
            <a:avLst/>
          </a:prstGeom>
          <a:noFill/>
          <a:ln w="9525">
            <a:noFill/>
          </a:ln>
        </p:spPr>
        <p:txBody>
          <a:bodyPr>
            <a:spAutoFit/>
          </a:bodyPr>
          <a:p>
            <a:pPr indent="266700" algn="l"/>
            <a:r>
              <a:rPr lang="zh-CN" b="0">
                <a:ea typeface="等线" panose="02010600030101010101" charset="-122"/>
              </a:rPr>
              <a:t>点击上图所示按钮，可将当前实际参数赋值到目标参数，手动转动舵机角度，再点击</a:t>
            </a:r>
            <a:endParaRPr lang="zh-CN" altLang="en-US" b="0">
              <a:ea typeface="等线" panose="02010600030101010101" charset="-122"/>
            </a:endParaRPr>
          </a:p>
        </p:txBody>
      </p:sp>
      <p:pic>
        <p:nvPicPr>
          <p:cNvPr id="7" name="图片 6"/>
          <p:cNvPicPr/>
          <p:nvPr/>
        </p:nvPicPr>
        <p:blipFill>
          <a:blip r:embed="rId4"/>
          <a:stretch>
            <a:fillRect/>
          </a:stretch>
        </p:blipFill>
        <p:spPr>
          <a:xfrm>
            <a:off x="6585585" y="4568825"/>
            <a:ext cx="1483995" cy="650240"/>
          </a:xfrm>
          <a:prstGeom prst="rect">
            <a:avLst/>
          </a:prstGeom>
          <a:noFill/>
          <a:ln w="9525">
            <a:noFill/>
          </a:ln>
        </p:spPr>
      </p:pic>
      <p:sp>
        <p:nvSpPr>
          <p:cNvPr id="103" name="文本框 102"/>
          <p:cNvSpPr txBox="1"/>
          <p:nvPr/>
        </p:nvSpPr>
        <p:spPr>
          <a:xfrm>
            <a:off x="6428105" y="5331460"/>
            <a:ext cx="5080000" cy="922020"/>
          </a:xfrm>
          <a:prstGeom prst="rect">
            <a:avLst/>
          </a:prstGeom>
          <a:noFill/>
          <a:ln w="9525">
            <a:noFill/>
          </a:ln>
        </p:spPr>
        <p:txBody>
          <a:bodyPr>
            <a:spAutoFit/>
          </a:bodyPr>
          <a:p>
            <a:pPr indent="266700"/>
            <a:r>
              <a:rPr lang="zh-CN" b="0">
                <a:ea typeface="等线" panose="02010600030101010101" charset="-122"/>
              </a:rPr>
              <a:t>舵机会转动到目标参数，手动对目标参数进行修改点击执行目标，舵机便会转动到设置的目标位置</a:t>
            </a:r>
            <a:endParaRPr lang="zh-CN" altLang="en-US" b="0">
              <a:ea typeface="等线" panose="0201060003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 name="文本框 102"/>
          <p:cNvSpPr txBox="1"/>
          <p:nvPr/>
        </p:nvSpPr>
        <p:spPr>
          <a:xfrm>
            <a:off x="1793240" y="936625"/>
            <a:ext cx="7442200" cy="2306955"/>
          </a:xfrm>
          <a:prstGeom prst="rect">
            <a:avLst/>
          </a:prstGeom>
          <a:noFill/>
          <a:ln w="9525">
            <a:noFill/>
          </a:ln>
        </p:spPr>
        <p:txBody>
          <a:bodyPr wrap="square">
            <a:spAutoFit/>
          </a:bodyPr>
          <a:p>
            <a:pPr indent="457200"/>
            <a:r>
              <a:rPr lang="zh-CN" sz="2400" b="1">
                <a:latin typeface="+mn-ea"/>
                <a:cs typeface="+mn-ea"/>
              </a:rPr>
              <a:t>当点击了执行目标时，舵机接收到了位置指令参数，</a:t>
            </a:r>
            <a:r>
              <a:rPr lang="en-US" sz="2400" b="1">
                <a:latin typeface="+mn-ea"/>
                <a:cs typeface="+mn-ea"/>
              </a:rPr>
              <a:t> </a:t>
            </a:r>
            <a:r>
              <a:rPr lang="zh-CN" altLang="en-US" sz="2400" b="1">
                <a:latin typeface="+mn-ea"/>
                <a:cs typeface="+mn-ea"/>
              </a:rPr>
              <a:t>发生转动，到达目标位置，舵机自身有扭力，需要点击全部失力按钮，才可进行机械臂的手动移动，</a:t>
            </a:r>
            <a:r>
              <a:rPr lang="en-US" altLang="zh-CN" sz="2400" b="1">
                <a:latin typeface="+mn-ea"/>
                <a:cs typeface="+mn-ea"/>
                <a:sym typeface="+mn-ea"/>
              </a:rPr>
              <a:t> </a:t>
            </a:r>
            <a:r>
              <a:rPr lang="zh-CN" sz="2400" b="1">
                <a:latin typeface="+mn-ea"/>
                <a:cs typeface="+mn-ea"/>
                <a:sym typeface="+mn-ea"/>
              </a:rPr>
              <a:t>在手动转动机械臂上位机实际列表中实时显示当前舵机角度的具体参数。</a:t>
            </a:r>
            <a:endParaRPr lang="zh-CN" altLang="en-US" sz="2400" b="1">
              <a:latin typeface="+mn-ea"/>
              <a:cs typeface="+mn-ea"/>
            </a:endParaRPr>
          </a:p>
          <a:p>
            <a:pPr indent="457200"/>
            <a:endParaRPr lang="zh-CN" altLang="en-US" sz="2400" b="1">
              <a:latin typeface="+mn-ea"/>
              <a:cs typeface="+mn-ea"/>
            </a:endParaRPr>
          </a:p>
        </p:txBody>
      </p:sp>
      <p:pic>
        <p:nvPicPr>
          <p:cNvPr id="4" name="图片 3"/>
          <p:cNvPicPr/>
          <p:nvPr/>
        </p:nvPicPr>
        <p:blipFill>
          <a:blip r:embed="rId1"/>
          <a:stretch>
            <a:fillRect/>
          </a:stretch>
        </p:blipFill>
        <p:spPr>
          <a:xfrm>
            <a:off x="2334260" y="3710305"/>
            <a:ext cx="2393315" cy="815975"/>
          </a:xfrm>
          <a:prstGeom prst="rect">
            <a:avLst/>
          </a:prstGeom>
          <a:noFill/>
          <a:ln w="9525">
            <a:noFill/>
          </a:ln>
        </p:spPr>
      </p:pic>
      <p:pic>
        <p:nvPicPr>
          <p:cNvPr id="28" name="图片 10"/>
          <p:cNvPicPr>
            <a:picLocks noChangeAspect="1"/>
          </p:cNvPicPr>
          <p:nvPr>
            <p:custDataLst>
              <p:tags r:id="rId2"/>
            </p:custDataLst>
          </p:nvPr>
        </p:nvPicPr>
        <p:blipFill>
          <a:blip r:embed="rId3"/>
          <a:srcRect l="1699" t="1952"/>
          <a:stretch>
            <a:fillRect/>
          </a:stretch>
        </p:blipFill>
        <p:spPr>
          <a:xfrm>
            <a:off x="6125210" y="2469515"/>
            <a:ext cx="4519930" cy="431355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6" name="圆角矩形 45"/>
          <p:cNvSpPr/>
          <p:nvPr/>
        </p:nvSpPr>
        <p:spPr>
          <a:xfrm>
            <a:off x="251791" y="251792"/>
            <a:ext cx="11635409" cy="6374296"/>
          </a:xfrm>
          <a:prstGeom prst="roundRect">
            <a:avLst>
              <a:gd name="adj" fmla="val 4721"/>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591338" y="1510748"/>
            <a:ext cx="7209183" cy="36045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389822" y="1860822"/>
            <a:ext cx="4136335" cy="2757557"/>
          </a:xfrm>
          <a:prstGeom prst="rect">
            <a:avLst/>
          </a:prstGeom>
        </p:spPr>
      </p:pic>
      <p:sp>
        <p:nvSpPr>
          <p:cNvPr id="7" name="矩形 6"/>
          <p:cNvSpPr/>
          <p:nvPr/>
        </p:nvSpPr>
        <p:spPr>
          <a:xfrm>
            <a:off x="1389822" y="1860822"/>
            <a:ext cx="4136335" cy="2757557"/>
          </a:xfrm>
          <a:prstGeom prst="rect">
            <a:avLst/>
          </a:prstGeom>
          <a:solidFill>
            <a:schemeClr val="tx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397506" y="2854879"/>
            <a:ext cx="3535680" cy="768350"/>
          </a:xfrm>
          <a:prstGeom prst="rect">
            <a:avLst/>
          </a:prstGeom>
          <a:noFill/>
        </p:spPr>
        <p:txBody>
          <a:bodyPr wrap="none" rtlCol="0">
            <a:spAutoFit/>
          </a:bodyPr>
          <a:lstStyle/>
          <a:p>
            <a:pPr algn="l"/>
            <a:r>
              <a:rPr lang="zh-CN" sz="4400" dirty="0" smtClean="0">
                <a:latin typeface="微软雅黑" panose="020B0503020204020204" charset="-122"/>
                <a:ea typeface="微软雅黑" panose="020B0503020204020204" charset="-122"/>
                <a:cs typeface="微软雅黑" panose="020B0503020204020204" charset="-122"/>
                <a:sym typeface="+mn-ea"/>
              </a:rPr>
              <a:t>机械臂动作组</a:t>
            </a:r>
            <a:endParaRPr lang="zh-CN" altLang="en-US" sz="4400" dirty="0">
              <a:latin typeface="汉仪雅酷黑 55W" panose="020B0504020202020204" pitchFamily="34" charset="-122"/>
              <a:ea typeface="汉仪雅酷黑 55W" panose="020B0504020202020204" pitchFamily="34" charset="-122"/>
            </a:endParaRPr>
          </a:p>
        </p:txBody>
      </p:sp>
      <p:sp>
        <p:nvSpPr>
          <p:cNvPr id="12" name="文本框 11"/>
          <p:cNvSpPr txBox="1"/>
          <p:nvPr/>
        </p:nvSpPr>
        <p:spPr>
          <a:xfrm>
            <a:off x="4035343" y="2685601"/>
            <a:ext cx="1193800" cy="1106805"/>
          </a:xfrm>
          <a:prstGeom prst="rect">
            <a:avLst/>
          </a:prstGeom>
          <a:noFill/>
        </p:spPr>
        <p:txBody>
          <a:bodyPr wrap="none" rtlCol="0">
            <a:spAutoFit/>
          </a:bodyPr>
          <a:lstStyle/>
          <a:p>
            <a:r>
              <a:rPr lang="en-US" altLang="zh-CN" sz="6600" dirty="0" smtClean="0">
                <a:solidFill>
                  <a:schemeClr val="bg1"/>
                </a:solidFill>
                <a:latin typeface="汉仪润圆-65简" panose="00020600040101010101" pitchFamily="18" charset="-122"/>
                <a:ea typeface="汉仪润圆-65简" panose="00020600040101010101" pitchFamily="18" charset="-122"/>
              </a:rPr>
              <a:t>04</a:t>
            </a:r>
            <a:endParaRPr lang="zh-CN" altLang="en-US" sz="6600" dirty="0">
              <a:solidFill>
                <a:schemeClr val="bg1"/>
              </a:solidFill>
              <a:latin typeface="汉仪润圆-65简" panose="00020600040101010101" pitchFamily="18" charset="-122"/>
              <a:ea typeface="汉仪润圆-65简" panose="00020600040101010101" pitchFamily="18" charset="-122"/>
            </a:endParaRPr>
          </a:p>
        </p:txBody>
      </p:sp>
      <p:sp>
        <p:nvSpPr>
          <p:cNvPr id="8" name="等腰三角形 7"/>
          <p:cNvSpPr/>
          <p:nvPr/>
        </p:nvSpPr>
        <p:spPr>
          <a:xfrm rot="5400000">
            <a:off x="5639013" y="3065621"/>
            <a:ext cx="474818" cy="386566"/>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446405" y="2506345"/>
            <a:ext cx="3658870" cy="812165"/>
          </a:xfrm>
          <a:prstGeom prst="rect">
            <a:avLst/>
          </a:prstGeom>
          <a:noFill/>
        </p:spPr>
        <p:txBody>
          <a:bodyPr wrap="square" rtlCol="0">
            <a:noAutofit/>
          </a:bodyPr>
          <a:p>
            <a:r>
              <a:rPr lang="en-US" altLang="zh-CN" sz="4800" b="1"/>
              <a:t>Run_1</a:t>
            </a:r>
            <a:endParaRPr lang="zh-CN" altLang="en-US" sz="4800" b="1"/>
          </a:p>
        </p:txBody>
      </p:sp>
      <p:sp>
        <p:nvSpPr>
          <p:cNvPr id="5" name="文本框 4"/>
          <p:cNvSpPr txBox="1"/>
          <p:nvPr>
            <p:custDataLst>
              <p:tags r:id="rId2"/>
            </p:custDataLst>
          </p:nvPr>
        </p:nvSpPr>
        <p:spPr>
          <a:xfrm>
            <a:off x="4864100" y="2526030"/>
            <a:ext cx="3327400" cy="829945"/>
          </a:xfrm>
          <a:prstGeom prst="rect">
            <a:avLst/>
          </a:prstGeom>
          <a:noFill/>
        </p:spPr>
        <p:txBody>
          <a:bodyPr wrap="square" rtlCol="0">
            <a:spAutoFit/>
          </a:bodyPr>
          <a:p>
            <a:r>
              <a:rPr lang="en-US" altLang="zh-CN" sz="4800" b="1"/>
              <a:t>Run_2</a:t>
            </a:r>
            <a:endParaRPr lang="zh-CN" altLang="en-US" sz="4800" b="1"/>
          </a:p>
        </p:txBody>
      </p:sp>
      <p:sp>
        <p:nvSpPr>
          <p:cNvPr id="6" name="文本框 5"/>
          <p:cNvSpPr txBox="1"/>
          <p:nvPr>
            <p:custDataLst>
              <p:tags r:id="rId3"/>
            </p:custDataLst>
          </p:nvPr>
        </p:nvSpPr>
        <p:spPr>
          <a:xfrm>
            <a:off x="8864600" y="2488565"/>
            <a:ext cx="3327400" cy="829945"/>
          </a:xfrm>
          <a:prstGeom prst="rect">
            <a:avLst/>
          </a:prstGeom>
          <a:noFill/>
        </p:spPr>
        <p:txBody>
          <a:bodyPr wrap="square" rtlCol="0">
            <a:spAutoFit/>
          </a:bodyPr>
          <a:p>
            <a:r>
              <a:rPr lang="en-US" altLang="zh-CN" sz="4800" b="1"/>
              <a:t>Run_3</a:t>
            </a:r>
            <a:endParaRPr lang="zh-CN" altLang="en-US" sz="4800" b="1"/>
          </a:p>
        </p:txBody>
      </p:sp>
      <p:sp>
        <p:nvSpPr>
          <p:cNvPr id="7" name="文本框 6"/>
          <p:cNvSpPr txBox="1"/>
          <p:nvPr>
            <p:custDataLst>
              <p:tags r:id="rId4"/>
            </p:custDataLst>
          </p:nvPr>
        </p:nvSpPr>
        <p:spPr>
          <a:xfrm>
            <a:off x="417830" y="5853430"/>
            <a:ext cx="3327400" cy="829945"/>
          </a:xfrm>
          <a:prstGeom prst="rect">
            <a:avLst/>
          </a:prstGeom>
          <a:noFill/>
        </p:spPr>
        <p:txBody>
          <a:bodyPr wrap="square" rtlCol="0">
            <a:spAutoFit/>
          </a:bodyPr>
          <a:p>
            <a:r>
              <a:rPr lang="en-US" altLang="zh-CN" sz="4800" b="1"/>
              <a:t>Run_4</a:t>
            </a:r>
            <a:endParaRPr lang="zh-CN" altLang="en-US" sz="4800" b="1"/>
          </a:p>
        </p:txBody>
      </p:sp>
      <p:sp>
        <p:nvSpPr>
          <p:cNvPr id="8" name="文本框 7"/>
          <p:cNvSpPr txBox="1"/>
          <p:nvPr>
            <p:custDataLst>
              <p:tags r:id="rId5"/>
            </p:custDataLst>
          </p:nvPr>
        </p:nvSpPr>
        <p:spPr>
          <a:xfrm>
            <a:off x="4864100" y="5771515"/>
            <a:ext cx="3327400" cy="829945"/>
          </a:xfrm>
          <a:prstGeom prst="rect">
            <a:avLst/>
          </a:prstGeom>
          <a:noFill/>
        </p:spPr>
        <p:txBody>
          <a:bodyPr wrap="square" rtlCol="0">
            <a:spAutoFit/>
          </a:bodyPr>
          <a:p>
            <a:r>
              <a:rPr lang="en-US" altLang="zh-CN" sz="4800" b="1"/>
              <a:t>Run_5</a:t>
            </a:r>
            <a:endParaRPr lang="zh-CN" altLang="en-US" sz="4800" b="1"/>
          </a:p>
        </p:txBody>
      </p:sp>
      <p:sp>
        <p:nvSpPr>
          <p:cNvPr id="9" name="文本框 8"/>
          <p:cNvSpPr txBox="1"/>
          <p:nvPr>
            <p:custDataLst>
              <p:tags r:id="rId6"/>
            </p:custDataLst>
          </p:nvPr>
        </p:nvSpPr>
        <p:spPr>
          <a:xfrm>
            <a:off x="8864600" y="3884930"/>
            <a:ext cx="3327400" cy="1076325"/>
          </a:xfrm>
          <a:prstGeom prst="rect">
            <a:avLst/>
          </a:prstGeom>
          <a:noFill/>
        </p:spPr>
        <p:txBody>
          <a:bodyPr wrap="square" rtlCol="0">
            <a:spAutoFit/>
          </a:bodyPr>
          <a:p>
            <a:r>
              <a:rPr lang="en-US" sz="3200" b="1"/>
              <a:t>5</a:t>
            </a:r>
            <a:r>
              <a:rPr lang="zh-CN" altLang="en-US" sz="3200" b="1"/>
              <a:t>个抓取动作的编写，执行</a:t>
            </a:r>
            <a:endParaRPr lang="zh-CN" altLang="en-US" sz="3200" b="1"/>
          </a:p>
        </p:txBody>
      </p:sp>
      <p:pic>
        <p:nvPicPr>
          <p:cNvPr id="11" name="图片 10"/>
          <p:cNvPicPr>
            <a:picLocks noChangeAspect="1"/>
          </p:cNvPicPr>
          <p:nvPr/>
        </p:nvPicPr>
        <p:blipFill>
          <a:blip r:embed="rId7"/>
          <a:stretch>
            <a:fillRect/>
          </a:stretch>
        </p:blipFill>
        <p:spPr>
          <a:xfrm>
            <a:off x="279400" y="278130"/>
            <a:ext cx="3465830" cy="2353310"/>
          </a:xfrm>
          <a:prstGeom prst="rect">
            <a:avLst/>
          </a:prstGeom>
        </p:spPr>
      </p:pic>
      <p:pic>
        <p:nvPicPr>
          <p:cNvPr id="12" name="图片 11"/>
          <p:cNvPicPr>
            <a:picLocks noChangeAspect="1"/>
          </p:cNvPicPr>
          <p:nvPr/>
        </p:nvPicPr>
        <p:blipFill>
          <a:blip r:embed="rId8"/>
          <a:stretch>
            <a:fillRect/>
          </a:stretch>
        </p:blipFill>
        <p:spPr>
          <a:xfrm>
            <a:off x="4179570" y="271780"/>
            <a:ext cx="3832225" cy="2398395"/>
          </a:xfrm>
          <a:prstGeom prst="rect">
            <a:avLst/>
          </a:prstGeom>
        </p:spPr>
      </p:pic>
      <p:pic>
        <p:nvPicPr>
          <p:cNvPr id="13" name="图片 12"/>
          <p:cNvPicPr>
            <a:picLocks noChangeAspect="1"/>
          </p:cNvPicPr>
          <p:nvPr/>
        </p:nvPicPr>
        <p:blipFill>
          <a:blip r:embed="rId9"/>
          <a:stretch>
            <a:fillRect/>
          </a:stretch>
        </p:blipFill>
        <p:spPr>
          <a:xfrm>
            <a:off x="8086090" y="271780"/>
            <a:ext cx="4217670" cy="2398395"/>
          </a:xfrm>
          <a:prstGeom prst="rect">
            <a:avLst/>
          </a:prstGeom>
        </p:spPr>
      </p:pic>
      <p:pic>
        <p:nvPicPr>
          <p:cNvPr id="14" name="图片 13"/>
          <p:cNvPicPr>
            <a:picLocks noChangeAspect="1"/>
          </p:cNvPicPr>
          <p:nvPr/>
        </p:nvPicPr>
        <p:blipFill>
          <a:blip r:embed="rId10"/>
          <a:stretch>
            <a:fillRect/>
          </a:stretch>
        </p:blipFill>
        <p:spPr>
          <a:xfrm>
            <a:off x="279400" y="3355975"/>
            <a:ext cx="3465830" cy="2626995"/>
          </a:xfrm>
          <a:prstGeom prst="rect">
            <a:avLst/>
          </a:prstGeom>
        </p:spPr>
      </p:pic>
      <p:pic>
        <p:nvPicPr>
          <p:cNvPr id="16" name="图片 15"/>
          <p:cNvPicPr>
            <a:picLocks noChangeAspect="1"/>
          </p:cNvPicPr>
          <p:nvPr/>
        </p:nvPicPr>
        <p:blipFill>
          <a:blip r:embed="rId11"/>
          <a:stretch>
            <a:fillRect/>
          </a:stretch>
        </p:blipFill>
        <p:spPr>
          <a:xfrm>
            <a:off x="4615180" y="3318510"/>
            <a:ext cx="2961640" cy="26758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3180715" y="415925"/>
            <a:ext cx="6109335" cy="706755"/>
          </a:xfrm>
          <a:prstGeom prst="rect">
            <a:avLst/>
          </a:prstGeom>
          <a:noFill/>
          <a:ln w="9525">
            <a:noFill/>
          </a:ln>
        </p:spPr>
        <p:txBody>
          <a:bodyPr wrap="square">
            <a:spAutoFit/>
          </a:bodyPr>
          <a:p>
            <a:pPr indent="0"/>
            <a:r>
              <a:rPr lang="zh-CN" sz="4000" b="1">
                <a:ea typeface="等线" panose="02010600030101010101" charset="-122"/>
              </a:rPr>
              <a:t>程序中的机械臂动作编写</a:t>
            </a:r>
            <a:endParaRPr lang="zh-CN" altLang="en-US" sz="4000" b="1">
              <a:ea typeface="等线" panose="02010600030101010101" charset="-122"/>
            </a:endParaRPr>
          </a:p>
        </p:txBody>
      </p:sp>
      <p:sp>
        <p:nvSpPr>
          <p:cNvPr id="2" name="文本框 1"/>
          <p:cNvSpPr txBox="1"/>
          <p:nvPr/>
        </p:nvSpPr>
        <p:spPr>
          <a:xfrm>
            <a:off x="3556000" y="1378585"/>
            <a:ext cx="5080000" cy="583565"/>
          </a:xfrm>
          <a:prstGeom prst="rect">
            <a:avLst/>
          </a:prstGeom>
          <a:noFill/>
          <a:ln w="9525">
            <a:noFill/>
          </a:ln>
        </p:spPr>
        <p:txBody>
          <a:bodyPr>
            <a:spAutoFit/>
          </a:bodyPr>
          <a:p>
            <a:pPr indent="0"/>
            <a:r>
              <a:rPr lang="zh-CN" sz="3200" b="1">
                <a:ea typeface="等线" panose="02010600030101010101" charset="-122"/>
              </a:rPr>
              <a:t>打开程序文件夹</a:t>
            </a:r>
            <a:endParaRPr lang="zh-CN" altLang="en-US" sz="3200" b="1">
              <a:ea typeface="等线" panose="02010600030101010101" charset="-122"/>
            </a:endParaRPr>
          </a:p>
        </p:txBody>
      </p:sp>
      <p:pic>
        <p:nvPicPr>
          <p:cNvPr id="23" name="图片 3"/>
          <p:cNvPicPr>
            <a:picLocks noChangeAspect="1"/>
          </p:cNvPicPr>
          <p:nvPr>
            <p:custDataLst>
              <p:tags r:id="rId1"/>
            </p:custDataLst>
          </p:nvPr>
        </p:nvPicPr>
        <p:blipFill>
          <a:blip r:embed="rId2"/>
          <a:srcRect l="2637" t="-828" r="55267"/>
          <a:stretch>
            <a:fillRect/>
          </a:stretch>
        </p:blipFill>
        <p:spPr>
          <a:xfrm>
            <a:off x="1927860" y="2836545"/>
            <a:ext cx="2993390" cy="2627630"/>
          </a:xfrm>
          <a:prstGeom prst="rect">
            <a:avLst/>
          </a:prstGeom>
          <a:noFill/>
          <a:ln>
            <a:noFill/>
          </a:ln>
        </p:spPr>
      </p:pic>
      <p:pic>
        <p:nvPicPr>
          <p:cNvPr id="30" name="图片 4"/>
          <p:cNvPicPr>
            <a:picLocks noChangeAspect="1"/>
          </p:cNvPicPr>
          <p:nvPr>
            <p:custDataLst>
              <p:tags r:id="rId3"/>
            </p:custDataLst>
          </p:nvPr>
        </p:nvPicPr>
        <p:blipFill>
          <a:blip r:embed="rId4"/>
          <a:srcRect r="62622" b="-20000"/>
          <a:stretch>
            <a:fillRect/>
          </a:stretch>
        </p:blipFill>
        <p:spPr>
          <a:xfrm>
            <a:off x="6309995" y="4131945"/>
            <a:ext cx="5247005" cy="1197610"/>
          </a:xfrm>
          <a:prstGeom prst="rect">
            <a:avLst/>
          </a:prstGeom>
          <a:noFill/>
          <a:ln>
            <a:noFill/>
          </a:ln>
        </p:spPr>
      </p:pic>
      <p:pic>
        <p:nvPicPr>
          <p:cNvPr id="4" name="图片 3"/>
          <p:cNvPicPr>
            <a:picLocks noChangeAspect="1"/>
          </p:cNvPicPr>
          <p:nvPr>
            <p:custDataLst>
              <p:tags r:id="rId5"/>
            </p:custDataLst>
          </p:nvPr>
        </p:nvPicPr>
        <p:blipFill>
          <a:blip r:embed="rId6"/>
          <a:stretch>
            <a:fillRect/>
          </a:stretch>
        </p:blipFill>
        <p:spPr>
          <a:xfrm>
            <a:off x="2095500" y="2172970"/>
            <a:ext cx="4505960" cy="5099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2451735" y="153670"/>
            <a:ext cx="7289165" cy="922020"/>
          </a:xfrm>
          <a:prstGeom prst="rect">
            <a:avLst/>
          </a:prstGeom>
          <a:noFill/>
          <a:ln w="9525">
            <a:noFill/>
          </a:ln>
        </p:spPr>
        <p:txBody>
          <a:bodyPr wrap="square">
            <a:spAutoFit/>
          </a:bodyPr>
          <a:p>
            <a:pPr indent="0"/>
            <a:r>
              <a:rPr lang="zh-CN" b="1">
                <a:ea typeface="等线" panose="02010600030101010101" charset="-122"/>
              </a:rPr>
              <a:t>左侧文件夹双击打开thread_user.c及Servo.c程序文件</a:t>
            </a:r>
            <a:endParaRPr lang="zh-CN" b="1">
              <a:ea typeface="等线" panose="02010600030101010101" charset="-122"/>
            </a:endParaRPr>
          </a:p>
          <a:p>
            <a:pPr indent="0"/>
            <a:r>
              <a:rPr lang="zh-CN" b="1">
                <a:solidFill>
                  <a:srgbClr val="FF0000"/>
                </a:solidFill>
                <a:ea typeface="等线" panose="02010600030101010101" charset="-122"/>
                <a:sym typeface="+mn-ea"/>
              </a:rPr>
              <a:t>thread_user.c</a:t>
            </a:r>
            <a:r>
              <a:rPr lang="zh-CN" b="1">
                <a:ea typeface="等线" panose="02010600030101010101" charset="-122"/>
                <a:sym typeface="+mn-ea"/>
              </a:rPr>
              <a:t>主用户代码，会按顺序执行内部编写的指令</a:t>
            </a:r>
            <a:endParaRPr lang="zh-CN" b="1">
              <a:ea typeface="等线" panose="02010600030101010101" charset="-122"/>
              <a:sym typeface="+mn-ea"/>
            </a:endParaRPr>
          </a:p>
          <a:p>
            <a:pPr indent="0"/>
            <a:r>
              <a:rPr lang="zh-CN" b="1">
                <a:solidFill>
                  <a:srgbClr val="FF0000"/>
                </a:solidFill>
                <a:ea typeface="等线" panose="02010600030101010101" charset="-122"/>
                <a:sym typeface="+mn-ea"/>
              </a:rPr>
              <a:t>Servo.c</a:t>
            </a:r>
            <a:r>
              <a:rPr lang="zh-CN" b="1">
                <a:ea typeface="等线" panose="02010600030101010101" charset="-122"/>
                <a:sym typeface="+mn-ea"/>
              </a:rPr>
              <a:t>机械臂动作组参数文件，动作组会在这个文件进行编写执行。</a:t>
            </a:r>
            <a:endParaRPr lang="en-US" altLang="zh-CN" b="1">
              <a:ea typeface="等线" panose="02010600030101010101" charset="-122"/>
              <a:sym typeface="+mn-ea"/>
            </a:endParaRPr>
          </a:p>
        </p:txBody>
      </p:sp>
      <p:pic>
        <p:nvPicPr>
          <p:cNvPr id="4" name="图片 3"/>
          <p:cNvPicPr>
            <a:picLocks noChangeAspect="1"/>
          </p:cNvPicPr>
          <p:nvPr>
            <p:custDataLst>
              <p:tags r:id="rId1"/>
            </p:custDataLst>
          </p:nvPr>
        </p:nvPicPr>
        <p:blipFill>
          <a:blip r:embed="rId2"/>
          <a:srcRect t="57298"/>
          <a:stretch>
            <a:fillRect/>
          </a:stretch>
        </p:blipFill>
        <p:spPr>
          <a:xfrm>
            <a:off x="4366260" y="1352550"/>
            <a:ext cx="2087880" cy="2378075"/>
          </a:xfrm>
          <a:prstGeom prst="rect">
            <a:avLst/>
          </a:prstGeom>
        </p:spPr>
      </p:pic>
      <p:sp>
        <p:nvSpPr>
          <p:cNvPr id="5" name="文本框 4"/>
          <p:cNvSpPr txBox="1"/>
          <p:nvPr/>
        </p:nvSpPr>
        <p:spPr>
          <a:xfrm>
            <a:off x="2870200" y="3730625"/>
            <a:ext cx="5080000" cy="368300"/>
          </a:xfrm>
          <a:prstGeom prst="rect">
            <a:avLst/>
          </a:prstGeom>
          <a:noFill/>
          <a:ln w="9525">
            <a:noFill/>
          </a:ln>
        </p:spPr>
        <p:txBody>
          <a:bodyPr>
            <a:spAutoFit/>
          </a:bodyPr>
          <a:p>
            <a:pPr indent="0"/>
            <a:r>
              <a:rPr lang="zh-CN" b="1">
                <a:ea typeface="等线" panose="02010600030101010101" charset="-122"/>
              </a:rPr>
              <a:t>thread_user.c第</a:t>
            </a:r>
            <a:r>
              <a:rPr lang="en-US" altLang="zh-CN" b="1">
                <a:ea typeface="等线" panose="02010600030101010101" charset="-122"/>
              </a:rPr>
              <a:t>711</a:t>
            </a:r>
            <a:r>
              <a:rPr lang="zh-CN" b="1">
                <a:ea typeface="等线" panose="02010600030101010101" charset="-122"/>
              </a:rPr>
              <a:t>行开始执行机械臂程序</a:t>
            </a:r>
            <a:endParaRPr lang="zh-CN" altLang="en-US" b="1">
              <a:ea typeface="等线" panose="02010600030101010101" charset="-122"/>
            </a:endParaRPr>
          </a:p>
        </p:txBody>
      </p:sp>
      <p:pic>
        <p:nvPicPr>
          <p:cNvPr id="2" name="图片 1"/>
          <p:cNvPicPr>
            <a:picLocks noChangeAspect="1"/>
          </p:cNvPicPr>
          <p:nvPr/>
        </p:nvPicPr>
        <p:blipFill>
          <a:blip r:embed="rId3"/>
          <a:stretch>
            <a:fillRect/>
          </a:stretch>
        </p:blipFill>
        <p:spPr>
          <a:xfrm>
            <a:off x="3495675" y="4098925"/>
            <a:ext cx="4235450" cy="26289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819900" y="1200150"/>
            <a:ext cx="5080000" cy="1198880"/>
          </a:xfrm>
          <a:prstGeom prst="rect">
            <a:avLst/>
          </a:prstGeom>
          <a:noFill/>
          <a:ln w="9525">
            <a:noFill/>
          </a:ln>
        </p:spPr>
        <p:txBody>
          <a:bodyPr>
            <a:spAutoFit/>
          </a:bodyPr>
          <a:p>
            <a:pPr indent="457200"/>
            <a:r>
              <a:rPr lang="zh-CN" b="1">
                <a:ea typeface="等线" panose="02010600030101010101" charset="-122"/>
              </a:rPr>
              <a:t>当按下按键K</a:t>
            </a:r>
            <a:r>
              <a:rPr lang="en-US" altLang="zh-CN" b="1">
                <a:ea typeface="等线" panose="02010600030101010101" charset="-122"/>
              </a:rPr>
              <a:t>5</a:t>
            </a:r>
            <a:r>
              <a:rPr lang="zh-CN" b="1">
                <a:ea typeface="等线" panose="02010600030101010101" charset="-122"/>
              </a:rPr>
              <a:t>按钮，程序会运行到Run_1执行刚才编写的动作，运行完Run_1动作后会再次执行Debug_Await（）进行等待按键</a:t>
            </a:r>
            <a:r>
              <a:rPr lang="en-US" altLang="zh-CN" b="1">
                <a:ea typeface="等线" panose="02010600030101010101" charset="-122"/>
              </a:rPr>
              <a:t>K5</a:t>
            </a:r>
            <a:r>
              <a:rPr lang="zh-CN" altLang="en-US" b="1">
                <a:ea typeface="等线" panose="02010600030101010101" charset="-122"/>
              </a:rPr>
              <a:t>按下，再执行</a:t>
            </a:r>
            <a:r>
              <a:rPr lang="zh-CN" b="1">
                <a:ea typeface="等线" panose="02010600030101010101" charset="-122"/>
                <a:sym typeface="+mn-ea"/>
              </a:rPr>
              <a:t>Run_</a:t>
            </a:r>
            <a:r>
              <a:rPr lang="en-US" altLang="zh-CN" b="1">
                <a:ea typeface="等线" panose="02010600030101010101" charset="-122"/>
                <a:sym typeface="+mn-ea"/>
              </a:rPr>
              <a:t>2,</a:t>
            </a:r>
            <a:endParaRPr lang="zh-CN" altLang="en-US" b="1">
              <a:ea typeface="等线" panose="02010600030101010101" charset="-122"/>
              <a:sym typeface="+mn-ea"/>
            </a:endParaRPr>
          </a:p>
        </p:txBody>
      </p:sp>
      <p:sp>
        <p:nvSpPr>
          <p:cNvPr id="4" name="文本框 3"/>
          <p:cNvSpPr txBox="1"/>
          <p:nvPr/>
        </p:nvSpPr>
        <p:spPr>
          <a:xfrm>
            <a:off x="304800" y="762635"/>
            <a:ext cx="6096000" cy="2030095"/>
          </a:xfrm>
          <a:prstGeom prst="rect">
            <a:avLst/>
          </a:prstGeom>
          <a:noFill/>
        </p:spPr>
        <p:txBody>
          <a:bodyPr wrap="square" rtlCol="0" anchor="t">
            <a:spAutoFit/>
          </a:bodyPr>
          <a:p>
            <a:r>
              <a:rPr lang="zh-CN" altLang="en-US"/>
              <a:t>static void Debug_Await(void)//暂停执行</a:t>
            </a:r>
            <a:endParaRPr lang="zh-CN" altLang="en-US"/>
          </a:p>
          <a:p>
            <a:r>
              <a:rPr lang="zh-CN" altLang="en-US"/>
              <a:t>{</a:t>
            </a:r>
            <a:endParaRPr lang="zh-CN" altLang="en-US"/>
          </a:p>
          <a:p>
            <a:r>
              <a:rPr lang="zh-CN" altLang="en-US"/>
              <a:t>	while(KEY_</a:t>
            </a:r>
            <a:r>
              <a:rPr lang="en-US" altLang="zh-CN"/>
              <a:t>5</a:t>
            </a:r>
            <a:r>
              <a:rPr lang="zh-CN" altLang="en-US"/>
              <a:t>() == 0)</a:t>
            </a:r>
            <a:endParaRPr lang="zh-CN" altLang="en-US"/>
          </a:p>
          <a:p>
            <a:r>
              <a:rPr lang="zh-CN" altLang="en-US"/>
              <a:t>		My_mDelay(50);</a:t>
            </a:r>
            <a:endParaRPr lang="zh-CN" altLang="en-US"/>
          </a:p>
          <a:p>
            <a:r>
              <a:rPr lang="zh-CN" altLang="en-US"/>
              <a:t>	while(KEY_</a:t>
            </a:r>
            <a:r>
              <a:rPr lang="en-US" altLang="zh-CN"/>
              <a:t>5</a:t>
            </a:r>
            <a:r>
              <a:rPr lang="zh-CN" altLang="en-US"/>
              <a:t>() == 1)</a:t>
            </a:r>
            <a:endParaRPr lang="zh-CN" altLang="en-US"/>
          </a:p>
          <a:p>
            <a:r>
              <a:rPr lang="zh-CN" altLang="en-US"/>
              <a:t>		My_mDelay(50);</a:t>
            </a:r>
            <a:endParaRPr lang="zh-CN" altLang="en-US"/>
          </a:p>
          <a:p>
            <a:r>
              <a:rPr lang="zh-CN" altLang="en-US"/>
              <a:t>}</a:t>
            </a:r>
            <a:endParaRPr lang="zh-CN" altLang="en-US"/>
          </a:p>
        </p:txBody>
      </p:sp>
      <p:pic>
        <p:nvPicPr>
          <p:cNvPr id="2" name="图片 1"/>
          <p:cNvPicPr>
            <a:picLocks noChangeAspect="1"/>
          </p:cNvPicPr>
          <p:nvPr/>
        </p:nvPicPr>
        <p:blipFill>
          <a:blip r:embed="rId1"/>
          <a:stretch>
            <a:fillRect/>
          </a:stretch>
        </p:blipFill>
        <p:spPr>
          <a:xfrm>
            <a:off x="6929120" y="2493010"/>
            <a:ext cx="2501900" cy="2514600"/>
          </a:xfrm>
          <a:prstGeom prst="rect">
            <a:avLst/>
          </a:prstGeom>
        </p:spPr>
      </p:pic>
      <p:pic>
        <p:nvPicPr>
          <p:cNvPr id="6" name="图片 5"/>
          <p:cNvPicPr>
            <a:picLocks noChangeAspect="1"/>
          </p:cNvPicPr>
          <p:nvPr/>
        </p:nvPicPr>
        <p:blipFill>
          <a:blip r:embed="rId2"/>
          <a:stretch>
            <a:fillRect/>
          </a:stretch>
        </p:blipFill>
        <p:spPr>
          <a:xfrm>
            <a:off x="9653905" y="2588260"/>
            <a:ext cx="2343150" cy="2419350"/>
          </a:xfrm>
          <a:prstGeom prst="rect">
            <a:avLst/>
          </a:prstGeom>
        </p:spPr>
      </p:pic>
      <p:pic>
        <p:nvPicPr>
          <p:cNvPr id="3" name="图片 2"/>
          <p:cNvPicPr>
            <a:picLocks noChangeAspect="1"/>
          </p:cNvPicPr>
          <p:nvPr/>
        </p:nvPicPr>
        <p:blipFill>
          <a:blip r:embed="rId3"/>
          <a:stretch>
            <a:fillRect/>
          </a:stretch>
        </p:blipFill>
        <p:spPr>
          <a:xfrm>
            <a:off x="521970" y="3048000"/>
            <a:ext cx="5459730" cy="33889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1635125" y="3089910"/>
            <a:ext cx="8696325" cy="1198880"/>
          </a:xfrm>
          <a:prstGeom prst="rect">
            <a:avLst/>
          </a:prstGeom>
          <a:noFill/>
          <a:ln w="9525">
            <a:noFill/>
          </a:ln>
        </p:spPr>
        <p:txBody>
          <a:bodyPr wrap="square">
            <a:spAutoFit/>
          </a:bodyPr>
          <a:p>
            <a:pPr indent="0"/>
            <a:r>
              <a:rPr lang="zh-CN" b="1">
                <a:ea typeface="等线" panose="02010600030101010101" charset="-122"/>
              </a:rPr>
              <a:t>在Servo.c文件</a:t>
            </a:r>
            <a:r>
              <a:rPr lang="en-US" altLang="zh-CN" b="1">
                <a:ea typeface="等线" panose="02010600030101010101" charset="-122"/>
              </a:rPr>
              <a:t>316</a:t>
            </a:r>
            <a:r>
              <a:rPr lang="zh-CN" altLang="en-US" b="1">
                <a:ea typeface="等线" panose="02010600030101010101" charset="-122"/>
              </a:rPr>
              <a:t>行</a:t>
            </a:r>
            <a:r>
              <a:rPr lang="zh-CN" b="1">
                <a:ea typeface="等线" panose="02010600030101010101" charset="-122"/>
              </a:rPr>
              <a:t>的Run_1函数中可以编写机械臂舵机动作参数，如图所示</a:t>
            </a:r>
            <a:endParaRPr lang="zh-CN" b="1">
              <a:ea typeface="等线" panose="02010600030101010101" charset="-122"/>
            </a:endParaRPr>
          </a:p>
          <a:p>
            <a:pPr indent="0"/>
            <a:r>
              <a:rPr lang="zh-CN" b="1">
                <a:ea typeface="等线" panose="02010600030101010101" charset="-122"/>
              </a:rPr>
              <a:t>（舵机</a:t>
            </a:r>
            <a:r>
              <a:rPr lang="en-US" altLang="zh-CN" b="1">
                <a:ea typeface="等线" panose="02010600030101010101" charset="-122"/>
              </a:rPr>
              <a:t>ID</a:t>
            </a:r>
            <a:r>
              <a:rPr lang="zh-CN" altLang="en-US" b="1">
                <a:ea typeface="等线" panose="02010600030101010101" charset="-122"/>
              </a:rPr>
              <a:t>，位置参数，速度</a:t>
            </a:r>
            <a:r>
              <a:rPr lang="en-US" altLang="zh-CN" b="1">
                <a:ea typeface="等线" panose="02010600030101010101" charset="-122"/>
              </a:rPr>
              <a:t>3250</a:t>
            </a:r>
            <a:r>
              <a:rPr lang="zh-CN" altLang="en-US" b="1">
                <a:ea typeface="等线" panose="02010600030101010101" charset="-122"/>
              </a:rPr>
              <a:t>，加速度</a:t>
            </a:r>
            <a:r>
              <a:rPr lang="en-US" altLang="zh-CN" b="1">
                <a:ea typeface="等线" panose="02010600030101010101" charset="-122"/>
              </a:rPr>
              <a:t>60</a:t>
            </a:r>
            <a:r>
              <a:rPr lang="zh-CN" b="1">
                <a:ea typeface="等线" panose="02010600030101010101" charset="-122"/>
              </a:rPr>
              <a:t>）</a:t>
            </a:r>
            <a:r>
              <a:rPr lang="en-US" altLang="zh-CN" b="1">
                <a:ea typeface="等线" panose="02010600030101010101" charset="-122"/>
              </a:rPr>
              <a:t>        </a:t>
            </a:r>
            <a:endParaRPr lang="en-US" altLang="zh-CN" b="1">
              <a:ea typeface="等线" panose="02010600030101010101" charset="-122"/>
            </a:endParaRPr>
          </a:p>
          <a:p>
            <a:pPr indent="0"/>
            <a:r>
              <a:rPr lang="zh-CN" altLang="en-US" b="1">
                <a:ea typeface="等线" panose="02010600030101010101" charset="-122"/>
              </a:rPr>
              <a:t>速度范围（</a:t>
            </a:r>
            <a:r>
              <a:rPr lang="en-US" altLang="zh-CN" b="1">
                <a:ea typeface="等线" panose="02010600030101010101" charset="-122"/>
              </a:rPr>
              <a:t>0-4500</a:t>
            </a:r>
            <a:r>
              <a:rPr lang="zh-CN" altLang="en-US" b="1">
                <a:ea typeface="等线" panose="02010600030101010101" charset="-122"/>
              </a:rPr>
              <a:t>），加速度（</a:t>
            </a:r>
            <a:r>
              <a:rPr lang="en-US" altLang="zh-CN" b="1">
                <a:ea typeface="等线" panose="02010600030101010101" charset="-122"/>
              </a:rPr>
              <a:t>0-180</a:t>
            </a:r>
            <a:r>
              <a:rPr lang="zh-CN" altLang="en-US" b="1">
                <a:ea typeface="等线" panose="02010600030101010101" charset="-122"/>
              </a:rPr>
              <a:t>）</a:t>
            </a:r>
            <a:endParaRPr lang="zh-CN" altLang="en-US" b="1">
              <a:ea typeface="等线" panose="02010600030101010101" charset="-122"/>
            </a:endParaRPr>
          </a:p>
          <a:p>
            <a:pPr indent="0"/>
            <a:r>
              <a:rPr lang="zh-CN" altLang="en-US" b="1">
                <a:ea typeface="等线" panose="02010600030101010101" charset="-122"/>
              </a:rPr>
              <a:t>（速度增大加速度也要变大，机械臂运动速度加快）</a:t>
            </a:r>
            <a:endParaRPr lang="zh-CN" altLang="en-US" b="1">
              <a:ea typeface="等线" panose="02010600030101010101" charset="-122"/>
            </a:endParaRPr>
          </a:p>
        </p:txBody>
      </p:sp>
      <p:pic>
        <p:nvPicPr>
          <p:cNvPr id="2" name="图片 1"/>
          <p:cNvPicPr>
            <a:picLocks noChangeAspect="1"/>
          </p:cNvPicPr>
          <p:nvPr/>
        </p:nvPicPr>
        <p:blipFill>
          <a:blip r:embed="rId1"/>
          <a:stretch>
            <a:fillRect/>
          </a:stretch>
        </p:blipFill>
        <p:spPr>
          <a:xfrm>
            <a:off x="4577080" y="2070735"/>
            <a:ext cx="2933700" cy="609600"/>
          </a:xfrm>
          <a:prstGeom prst="rect">
            <a:avLst/>
          </a:prstGeom>
        </p:spPr>
      </p:pic>
      <p:sp>
        <p:nvSpPr>
          <p:cNvPr id="3" name="文本框 2"/>
          <p:cNvSpPr txBox="1"/>
          <p:nvPr/>
        </p:nvSpPr>
        <p:spPr>
          <a:xfrm>
            <a:off x="3357245" y="922020"/>
            <a:ext cx="5815965" cy="922020"/>
          </a:xfrm>
          <a:prstGeom prst="rect">
            <a:avLst/>
          </a:prstGeom>
          <a:noFill/>
          <a:ln w="9525">
            <a:noFill/>
          </a:ln>
        </p:spPr>
        <p:txBody>
          <a:bodyPr wrap="square">
            <a:spAutoFit/>
          </a:bodyPr>
          <a:p>
            <a:pPr indent="0"/>
            <a:r>
              <a:rPr lang="zh-CN" b="1">
                <a:ea typeface="等线" panose="02010600030101010101" charset="-122"/>
              </a:rPr>
              <a:t>在</a:t>
            </a:r>
            <a:r>
              <a:rPr lang="zh-CN" b="1">
                <a:solidFill>
                  <a:srgbClr val="FF0000"/>
                </a:solidFill>
                <a:ea typeface="等线" panose="02010600030101010101" charset="-122"/>
              </a:rPr>
              <a:t>Servo.c</a:t>
            </a:r>
            <a:r>
              <a:rPr lang="zh-CN" b="1">
                <a:ea typeface="等线" panose="02010600030101010101" charset="-122"/>
              </a:rPr>
              <a:t>文件</a:t>
            </a:r>
            <a:r>
              <a:rPr lang="en-US" altLang="zh-CN" b="1">
                <a:ea typeface="等线" panose="02010600030101010101" charset="-122"/>
              </a:rPr>
              <a:t>18</a:t>
            </a:r>
            <a:r>
              <a:rPr lang="zh-CN" altLang="en-US" b="1">
                <a:ea typeface="等线" panose="02010600030101010101" charset="-122"/>
              </a:rPr>
              <a:t>行</a:t>
            </a:r>
            <a:r>
              <a:rPr lang="zh-CN" b="1">
                <a:ea typeface="等线" panose="02010600030101010101" charset="-122"/>
              </a:rPr>
              <a:t>的</a:t>
            </a:r>
            <a:r>
              <a:rPr lang="en-US" altLang="zh-CN" b="1">
                <a:ea typeface="等线" panose="02010600030101010101" charset="-122"/>
              </a:rPr>
              <a:t>open</a:t>
            </a:r>
            <a:r>
              <a:rPr lang="zh-CN" altLang="en-US" b="1">
                <a:ea typeface="等线" panose="02010600030101010101" charset="-122"/>
              </a:rPr>
              <a:t>代表手爪的张开参数</a:t>
            </a:r>
            <a:r>
              <a:rPr lang="en-US" altLang="zh-CN" b="1">
                <a:ea typeface="等线" panose="02010600030101010101" charset="-122"/>
              </a:rPr>
              <a:t>800</a:t>
            </a:r>
            <a:r>
              <a:rPr lang="zh-CN" altLang="en-US" b="1">
                <a:solidFill>
                  <a:srgbClr val="FF0000"/>
                </a:solidFill>
                <a:ea typeface="等线" panose="02010600030101010101" charset="-122"/>
              </a:rPr>
              <a:t>根据实际参数</a:t>
            </a:r>
            <a:r>
              <a:rPr lang="zh-CN" altLang="en-US" b="1">
                <a:ea typeface="等线" panose="02010600030101010101" charset="-122"/>
              </a:rPr>
              <a:t>进行替换，</a:t>
            </a:r>
            <a:r>
              <a:rPr lang="en-US" altLang="zh-CN" b="1">
                <a:ea typeface="等线" panose="02010600030101010101" charset="-122"/>
              </a:rPr>
              <a:t>close</a:t>
            </a:r>
            <a:r>
              <a:rPr lang="zh-CN" altLang="en-US" b="1">
                <a:ea typeface="等线" panose="02010600030101010101" charset="-122"/>
              </a:rPr>
              <a:t>为闭合参数</a:t>
            </a:r>
            <a:r>
              <a:rPr lang="en-US" altLang="zh-CN" b="1">
                <a:ea typeface="等线" panose="02010600030101010101" charset="-122"/>
              </a:rPr>
              <a:t>1370</a:t>
            </a:r>
            <a:r>
              <a:rPr lang="zh-CN" altLang="en-US" b="1">
                <a:solidFill>
                  <a:srgbClr val="FF0000"/>
                </a:solidFill>
                <a:ea typeface="等线" panose="02010600030101010101" charset="-122"/>
                <a:sym typeface="+mn-ea"/>
              </a:rPr>
              <a:t>根据实际参数</a:t>
            </a:r>
            <a:r>
              <a:rPr lang="zh-CN" altLang="en-US" b="1">
                <a:ea typeface="等线" panose="02010600030101010101" charset="-122"/>
              </a:rPr>
              <a:t>进行替换，将固定的参数重命名，方便后续动作编写。</a:t>
            </a:r>
            <a:endParaRPr lang="zh-CN" altLang="en-US" b="1">
              <a:ea typeface="等线" panose="02010600030101010101" charset="-122"/>
            </a:endParaRPr>
          </a:p>
        </p:txBody>
      </p:sp>
      <p:pic>
        <p:nvPicPr>
          <p:cNvPr id="5" name="图片 4"/>
          <p:cNvPicPr>
            <a:picLocks noChangeAspect="1"/>
          </p:cNvPicPr>
          <p:nvPr>
            <p:custDataLst>
              <p:tags r:id="rId2"/>
            </p:custDataLst>
          </p:nvPr>
        </p:nvPicPr>
        <p:blipFill>
          <a:blip r:embed="rId3"/>
          <a:srcRect t="57298"/>
          <a:stretch>
            <a:fillRect/>
          </a:stretch>
        </p:blipFill>
        <p:spPr>
          <a:xfrm>
            <a:off x="304165" y="672465"/>
            <a:ext cx="2087880" cy="2378075"/>
          </a:xfrm>
          <a:prstGeom prst="rect">
            <a:avLst/>
          </a:prstGeom>
        </p:spPr>
      </p:pic>
      <p:pic>
        <p:nvPicPr>
          <p:cNvPr id="7" name="图片 6"/>
          <p:cNvPicPr>
            <a:picLocks noChangeAspect="1"/>
          </p:cNvPicPr>
          <p:nvPr/>
        </p:nvPicPr>
        <p:blipFill>
          <a:blip r:embed="rId4"/>
          <a:srcRect t="12131"/>
          <a:stretch>
            <a:fillRect/>
          </a:stretch>
        </p:blipFill>
        <p:spPr>
          <a:xfrm>
            <a:off x="2392045" y="4534535"/>
            <a:ext cx="6076950" cy="1021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 name="文本框 100"/>
          <p:cNvSpPr txBox="1"/>
          <p:nvPr/>
        </p:nvSpPr>
        <p:spPr>
          <a:xfrm>
            <a:off x="981075" y="1092200"/>
            <a:ext cx="7955280" cy="368300"/>
          </a:xfrm>
          <a:prstGeom prst="rect">
            <a:avLst/>
          </a:prstGeom>
          <a:noFill/>
          <a:ln w="9525">
            <a:noFill/>
          </a:ln>
        </p:spPr>
        <p:txBody>
          <a:bodyPr wrap="square">
            <a:spAutoFit/>
          </a:bodyPr>
          <a:p>
            <a:pPr indent="0"/>
            <a:r>
              <a:rPr lang="zh-CN" b="1">
                <a:ea typeface="等线" panose="02010600030101010101" charset="-122"/>
              </a:rPr>
              <a:t>连接上位机，各显示舵机实时参数（参数就代表机械臂此刻动作），点击</a:t>
            </a:r>
            <a:endParaRPr lang="zh-CN" altLang="en-US" b="1">
              <a:ea typeface="等线" panose="02010600030101010101" charset="-122"/>
            </a:endParaRPr>
          </a:p>
        </p:txBody>
      </p:sp>
      <p:pic>
        <p:nvPicPr>
          <p:cNvPr id="4" name="图片 3"/>
          <p:cNvPicPr/>
          <p:nvPr/>
        </p:nvPicPr>
        <p:blipFill>
          <a:blip r:embed="rId1"/>
          <a:stretch>
            <a:fillRect/>
          </a:stretch>
        </p:blipFill>
        <p:spPr>
          <a:xfrm>
            <a:off x="8726805" y="876300"/>
            <a:ext cx="1638935" cy="800100"/>
          </a:xfrm>
          <a:prstGeom prst="rect">
            <a:avLst/>
          </a:prstGeom>
          <a:noFill/>
          <a:ln w="9525">
            <a:noFill/>
          </a:ln>
        </p:spPr>
      </p:pic>
      <p:pic>
        <p:nvPicPr>
          <p:cNvPr id="35" name="图片 8"/>
          <p:cNvPicPr>
            <a:picLocks noChangeAspect="1"/>
          </p:cNvPicPr>
          <p:nvPr>
            <p:custDataLst>
              <p:tags r:id="rId2"/>
            </p:custDataLst>
          </p:nvPr>
        </p:nvPicPr>
        <p:blipFill>
          <a:blip r:embed="rId3"/>
          <a:srcRect l="2145"/>
          <a:stretch>
            <a:fillRect/>
          </a:stretch>
        </p:blipFill>
        <p:spPr>
          <a:xfrm>
            <a:off x="1143318" y="1676400"/>
            <a:ext cx="5156835" cy="5041900"/>
          </a:xfrm>
          <a:prstGeom prst="rect">
            <a:avLst/>
          </a:prstGeom>
          <a:noFill/>
          <a:ln>
            <a:noFill/>
          </a:ln>
        </p:spPr>
      </p:pic>
      <p:pic>
        <p:nvPicPr>
          <p:cNvPr id="37" name="图片 10"/>
          <p:cNvPicPr>
            <a:picLocks noChangeAspect="1"/>
          </p:cNvPicPr>
          <p:nvPr>
            <p:custDataLst>
              <p:tags r:id="rId4"/>
            </p:custDataLst>
          </p:nvPr>
        </p:nvPicPr>
        <p:blipFill>
          <a:blip r:embed="rId5"/>
          <a:stretch>
            <a:fillRect/>
          </a:stretch>
        </p:blipFill>
        <p:spPr>
          <a:xfrm>
            <a:off x="7435850" y="2933065"/>
            <a:ext cx="3417570" cy="2061845"/>
          </a:xfrm>
          <a:prstGeom prst="rect">
            <a:avLst/>
          </a:prstGeom>
          <a:noFill/>
          <a:ln>
            <a:noFill/>
          </a:ln>
        </p:spPr>
      </p:pic>
      <p:sp>
        <p:nvSpPr>
          <p:cNvPr id="2" name="文本框 1"/>
          <p:cNvSpPr txBox="1"/>
          <p:nvPr/>
        </p:nvSpPr>
        <p:spPr>
          <a:xfrm>
            <a:off x="7264400" y="5114925"/>
            <a:ext cx="4044950" cy="922020"/>
          </a:xfrm>
          <a:prstGeom prst="rect">
            <a:avLst/>
          </a:prstGeom>
          <a:noFill/>
        </p:spPr>
        <p:txBody>
          <a:bodyPr wrap="square" rtlCol="0">
            <a:spAutoFit/>
          </a:bodyPr>
          <a:p>
            <a:r>
              <a:rPr lang="zh-CN" altLang="en-US"/>
              <a:t>通过手动移动机械臂记录，移动到一个点位，将实际参数赋值到目标参数，将目标参数按顺序进行记录填写</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 name="图片 10"/>
          <p:cNvPicPr>
            <a:picLocks noChangeAspect="1"/>
          </p:cNvPicPr>
          <p:nvPr>
            <p:custDataLst>
              <p:tags r:id="rId1"/>
            </p:custDataLst>
          </p:nvPr>
        </p:nvPicPr>
        <p:blipFill>
          <a:blip r:embed="rId2"/>
          <a:stretch>
            <a:fillRect/>
          </a:stretch>
        </p:blipFill>
        <p:spPr>
          <a:xfrm>
            <a:off x="1007745" y="649605"/>
            <a:ext cx="4133215" cy="2493645"/>
          </a:xfrm>
          <a:prstGeom prst="rect">
            <a:avLst/>
          </a:prstGeom>
          <a:noFill/>
          <a:ln>
            <a:noFill/>
          </a:ln>
        </p:spPr>
      </p:pic>
      <p:sp>
        <p:nvSpPr>
          <p:cNvPr id="102" name="文本框 101"/>
          <p:cNvSpPr txBox="1"/>
          <p:nvPr/>
        </p:nvSpPr>
        <p:spPr>
          <a:xfrm>
            <a:off x="5532120" y="1358265"/>
            <a:ext cx="5814060" cy="4315460"/>
          </a:xfrm>
          <a:prstGeom prst="rect">
            <a:avLst/>
          </a:prstGeom>
          <a:noFill/>
          <a:ln w="9525">
            <a:noFill/>
          </a:ln>
        </p:spPr>
        <p:txBody>
          <a:bodyPr>
            <a:noAutofit/>
          </a:bodyPr>
          <a:p>
            <a:pPr indent="457200"/>
            <a:r>
              <a:rPr lang="zh-CN" sz="2400" b="1">
                <a:ea typeface="等线" panose="02010600030101010101" charset="-122"/>
              </a:rPr>
              <a:t>可以对红色目标参数双击选中进行复制按舵机ID顺序对应括号内的1234顺序填入</a:t>
            </a:r>
            <a:r>
              <a:rPr lang="en-US" altLang="zh-CN" sz="2400" b="1">
                <a:ea typeface="等线" panose="02010600030101010101" charset="-122"/>
              </a:rPr>
              <a:t>Servo.c</a:t>
            </a:r>
            <a:r>
              <a:rPr lang="zh-CN" altLang="en-US" sz="2400" b="1">
                <a:ea typeface="等线" panose="02010600030101010101" charset="-122"/>
              </a:rPr>
              <a:t>文件下的</a:t>
            </a:r>
            <a:r>
              <a:rPr lang="en-US" altLang="zh-CN" sz="2400" b="1">
                <a:ea typeface="等线" panose="02010600030101010101" charset="-122"/>
              </a:rPr>
              <a:t>Run_1</a:t>
            </a:r>
            <a:r>
              <a:rPr lang="zh-CN" altLang="en-US" sz="2400" b="1">
                <a:ea typeface="等线" panose="02010600030101010101" charset="-122"/>
              </a:rPr>
              <a:t>函数</a:t>
            </a:r>
            <a:r>
              <a:rPr lang="zh-CN" sz="2400" b="1">
                <a:ea typeface="等线" panose="02010600030101010101" charset="-122"/>
              </a:rPr>
              <a:t>红色方框中。程序运行</a:t>
            </a:r>
            <a:r>
              <a:rPr lang="en-US" altLang="zh-CN" sz="2400" b="1">
                <a:ea typeface="等线" panose="02010600030101010101" charset="-122"/>
              </a:rPr>
              <a:t>Run_1</a:t>
            </a:r>
            <a:r>
              <a:rPr lang="zh-CN" altLang="en-US" sz="2400" b="1">
                <a:ea typeface="等线" panose="02010600030101010101" charset="-122"/>
              </a:rPr>
              <a:t>，通过函数将舵机参数值发送至舵机控制板，实现对舵机的驱动。括号内的参数（</a:t>
            </a:r>
            <a:r>
              <a:rPr lang="en-US" altLang="zh-CN" sz="2400" b="1">
                <a:ea typeface="等线" panose="02010600030101010101" charset="-122"/>
              </a:rPr>
              <a:t>ID</a:t>
            </a:r>
            <a:r>
              <a:rPr lang="zh-CN" altLang="en-US" sz="2400" b="1">
                <a:ea typeface="等线" panose="02010600030101010101" charset="-122"/>
              </a:rPr>
              <a:t>号，位置参数，速度参数，默认</a:t>
            </a:r>
            <a:r>
              <a:rPr lang="en-US" altLang="zh-CN" sz="2400" b="1">
                <a:ea typeface="等线" panose="02010600030101010101" charset="-122"/>
              </a:rPr>
              <a:t>30</a:t>
            </a:r>
            <a:r>
              <a:rPr lang="zh-CN" altLang="en-US" sz="2400" b="1">
                <a:ea typeface="等线" panose="02010600030101010101" charset="-122"/>
              </a:rPr>
              <a:t>）</a:t>
            </a:r>
            <a:endParaRPr lang="zh-CN" altLang="en-US" sz="2400" b="1">
              <a:ea typeface="等线" panose="02010600030101010101" charset="-122"/>
            </a:endParaRPr>
          </a:p>
          <a:p>
            <a:pPr indent="457200"/>
            <a:r>
              <a:rPr lang="zh-CN" altLang="en-US" sz="2400" b="1">
                <a:ea typeface="等线" panose="02010600030101010101" charset="-122"/>
              </a:rPr>
              <a:t>将</a:t>
            </a:r>
            <a:r>
              <a:rPr lang="en-US" altLang="zh-CN" sz="2400" b="1">
                <a:ea typeface="等线" panose="02010600030101010101" charset="-122"/>
              </a:rPr>
              <a:t>4</a:t>
            </a:r>
            <a:r>
              <a:rPr lang="zh-CN" altLang="en-US" sz="2400" b="1">
                <a:ea typeface="等线" panose="02010600030101010101" charset="-122"/>
              </a:rPr>
              <a:t>个舵机参数分别写入到对应</a:t>
            </a:r>
            <a:r>
              <a:rPr lang="en-US" altLang="zh-CN" sz="2400" b="1">
                <a:ea typeface="等线" panose="02010600030101010101" charset="-122"/>
              </a:rPr>
              <a:t>ID</a:t>
            </a:r>
            <a:r>
              <a:rPr lang="zh-CN" altLang="en-US" sz="2400" b="1">
                <a:ea typeface="等线" panose="02010600030101010101" charset="-122"/>
              </a:rPr>
              <a:t>号舵机，舵机同时执行动作。</a:t>
            </a:r>
            <a:endParaRPr lang="zh-CN" altLang="en-US" sz="2400" b="1">
              <a:ea typeface="等线" panose="02010600030101010101" charset="-122"/>
            </a:endParaRPr>
          </a:p>
        </p:txBody>
      </p:sp>
      <p:pic>
        <p:nvPicPr>
          <p:cNvPr id="2" name="图片 1"/>
          <p:cNvPicPr>
            <a:picLocks noChangeAspect="1"/>
          </p:cNvPicPr>
          <p:nvPr/>
        </p:nvPicPr>
        <p:blipFill>
          <a:blip r:embed="rId3"/>
          <a:stretch>
            <a:fillRect/>
          </a:stretch>
        </p:blipFill>
        <p:spPr>
          <a:xfrm>
            <a:off x="711200" y="4798060"/>
            <a:ext cx="9150350" cy="14668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451600" y="620713"/>
            <a:ext cx="5080000" cy="2306955"/>
          </a:xfrm>
          <a:prstGeom prst="rect">
            <a:avLst/>
          </a:prstGeom>
          <a:noFill/>
          <a:ln w="9525">
            <a:noFill/>
          </a:ln>
        </p:spPr>
        <p:txBody>
          <a:bodyPr>
            <a:spAutoFit/>
          </a:bodyPr>
          <a:p>
            <a:pPr indent="457200"/>
            <a:r>
              <a:rPr lang="zh-CN" sz="2400" b="1">
                <a:ea typeface="等线" panose="02010600030101010101" charset="-122"/>
              </a:rPr>
              <a:t>需要按下K</a:t>
            </a:r>
            <a:r>
              <a:rPr lang="en-US" altLang="zh-CN" sz="2400" b="1">
                <a:ea typeface="等线" panose="02010600030101010101" charset="-122"/>
              </a:rPr>
              <a:t>5</a:t>
            </a:r>
            <a:r>
              <a:rPr lang="zh-CN" sz="2400" b="1">
                <a:ea typeface="等线" panose="02010600030101010101" charset="-122"/>
              </a:rPr>
              <a:t>按键程序才会再往下执行，可以在Servo.c的Run_2函数中可以编写动作参数，复制Run_1的格式进行参数修改，机械臂会执行第二个点位的动作，以此类推完成一个对桌面物料的抓取动作</a:t>
            </a:r>
            <a:endParaRPr lang="zh-CN" altLang="en-US" sz="2400" b="1">
              <a:ea typeface="等线" panose="02010600030101010101" charset="-122"/>
            </a:endParaRPr>
          </a:p>
        </p:txBody>
      </p:sp>
      <p:sp>
        <p:nvSpPr>
          <p:cNvPr id="5" name="文本框 4"/>
          <p:cNvSpPr txBox="1"/>
          <p:nvPr/>
        </p:nvSpPr>
        <p:spPr>
          <a:xfrm>
            <a:off x="6210300" y="4080510"/>
            <a:ext cx="4927600" cy="1198880"/>
          </a:xfrm>
          <a:prstGeom prst="rect">
            <a:avLst/>
          </a:prstGeom>
          <a:noFill/>
        </p:spPr>
        <p:txBody>
          <a:bodyPr wrap="square" rtlCol="0">
            <a:spAutoFit/>
          </a:bodyPr>
          <a:p>
            <a:r>
              <a:rPr lang="zh-CN" altLang="en-US" sz="2400" b="1"/>
              <a:t>通过将实际参数赋值给目标参数，实际目标参数值进行</a:t>
            </a:r>
            <a:r>
              <a:rPr lang="en-US" altLang="zh-CN" sz="2400" b="1"/>
              <a:t>Run_2</a:t>
            </a:r>
            <a:r>
              <a:rPr lang="zh-CN" altLang="en-US" sz="2400" b="1"/>
              <a:t>内容参数的填写。</a:t>
            </a:r>
            <a:endParaRPr lang="zh-CN" altLang="en-US" sz="2400" b="1"/>
          </a:p>
        </p:txBody>
      </p:sp>
      <p:pic>
        <p:nvPicPr>
          <p:cNvPr id="3" name="图片 2"/>
          <p:cNvPicPr>
            <a:picLocks noChangeAspect="1"/>
          </p:cNvPicPr>
          <p:nvPr/>
        </p:nvPicPr>
        <p:blipFill>
          <a:blip r:embed="rId1"/>
          <a:stretch>
            <a:fillRect/>
          </a:stretch>
        </p:blipFill>
        <p:spPr>
          <a:xfrm>
            <a:off x="819150" y="3253740"/>
            <a:ext cx="2423160" cy="3134360"/>
          </a:xfrm>
          <a:prstGeom prst="rect">
            <a:avLst/>
          </a:prstGeom>
        </p:spPr>
      </p:pic>
      <p:pic>
        <p:nvPicPr>
          <p:cNvPr id="2" name="图片 1"/>
          <p:cNvPicPr>
            <a:picLocks noChangeAspect="1"/>
          </p:cNvPicPr>
          <p:nvPr/>
        </p:nvPicPr>
        <p:blipFill>
          <a:blip r:embed="rId2"/>
          <a:stretch>
            <a:fillRect/>
          </a:stretch>
        </p:blipFill>
        <p:spPr>
          <a:xfrm>
            <a:off x="602615" y="855980"/>
            <a:ext cx="5678805" cy="16351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6451600" y="620713"/>
            <a:ext cx="5080000" cy="829945"/>
          </a:xfrm>
          <a:prstGeom prst="rect">
            <a:avLst/>
          </a:prstGeom>
          <a:noFill/>
          <a:ln w="9525">
            <a:noFill/>
          </a:ln>
        </p:spPr>
        <p:txBody>
          <a:bodyPr>
            <a:spAutoFit/>
          </a:bodyPr>
          <a:p>
            <a:pPr indent="457200"/>
            <a:r>
              <a:rPr lang="zh-CN" sz="2400" b="1">
                <a:ea typeface="等线" panose="02010600030101010101" charset="-122"/>
              </a:rPr>
              <a:t>创建新函数名需要在</a:t>
            </a:r>
            <a:r>
              <a:rPr lang="en-US" altLang="zh-CN" sz="2400" b="1">
                <a:ea typeface="等线" panose="02010600030101010101" charset="-122"/>
              </a:rPr>
              <a:t>Servo.h</a:t>
            </a:r>
            <a:r>
              <a:rPr lang="zh-CN" altLang="en-US" sz="2400" b="1">
                <a:ea typeface="等线" panose="02010600030101010101" charset="-122"/>
              </a:rPr>
              <a:t>对函数进行外部声明</a:t>
            </a:r>
            <a:endParaRPr lang="zh-CN" altLang="en-US" sz="2400" b="1">
              <a:ea typeface="等线" panose="02010600030101010101" charset="-122"/>
            </a:endParaRPr>
          </a:p>
        </p:txBody>
      </p:sp>
      <p:pic>
        <p:nvPicPr>
          <p:cNvPr id="2" name="图片 1"/>
          <p:cNvPicPr>
            <a:picLocks noChangeAspect="1"/>
          </p:cNvPicPr>
          <p:nvPr>
            <p:custDataLst>
              <p:tags r:id="rId1"/>
            </p:custDataLst>
          </p:nvPr>
        </p:nvPicPr>
        <p:blipFill>
          <a:blip r:embed="rId2"/>
          <a:stretch>
            <a:fillRect/>
          </a:stretch>
        </p:blipFill>
        <p:spPr>
          <a:xfrm>
            <a:off x="869950" y="418465"/>
            <a:ext cx="3873500" cy="5810250"/>
          </a:xfrm>
          <a:prstGeom prst="rect">
            <a:avLst/>
          </a:prstGeom>
        </p:spPr>
      </p:pic>
      <p:pic>
        <p:nvPicPr>
          <p:cNvPr id="4" name="图片 3"/>
          <p:cNvPicPr>
            <a:picLocks noChangeAspect="1"/>
          </p:cNvPicPr>
          <p:nvPr/>
        </p:nvPicPr>
        <p:blipFill>
          <a:blip r:embed="rId3"/>
          <a:stretch>
            <a:fillRect/>
          </a:stretch>
        </p:blipFill>
        <p:spPr>
          <a:xfrm>
            <a:off x="6263640" y="1788160"/>
            <a:ext cx="4178300" cy="36893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144270" y="3199130"/>
            <a:ext cx="3327400" cy="829945"/>
          </a:xfrm>
          <a:prstGeom prst="rect">
            <a:avLst/>
          </a:prstGeom>
          <a:noFill/>
        </p:spPr>
        <p:txBody>
          <a:bodyPr wrap="square" rtlCol="0">
            <a:spAutoFit/>
          </a:bodyPr>
          <a:p>
            <a:r>
              <a:rPr lang="en-US" altLang="zh-CN" sz="4800" b="1"/>
              <a:t>Run_1</a:t>
            </a:r>
            <a:r>
              <a:rPr lang="zh-CN" altLang="en-US" sz="4800" b="1"/>
              <a:t>动作</a:t>
            </a:r>
            <a:endParaRPr lang="zh-CN" altLang="en-US" sz="4800" b="1"/>
          </a:p>
        </p:txBody>
      </p:sp>
      <p:sp>
        <p:nvSpPr>
          <p:cNvPr id="5" name="文本框 4"/>
          <p:cNvSpPr txBox="1"/>
          <p:nvPr/>
        </p:nvSpPr>
        <p:spPr>
          <a:xfrm>
            <a:off x="1841500" y="4883150"/>
            <a:ext cx="3454400" cy="460375"/>
          </a:xfrm>
          <a:prstGeom prst="rect">
            <a:avLst/>
          </a:prstGeom>
          <a:noFill/>
        </p:spPr>
        <p:txBody>
          <a:bodyPr wrap="square" rtlCol="0">
            <a:spAutoFit/>
          </a:bodyPr>
          <a:p>
            <a:r>
              <a:rPr lang="zh-CN" altLang="en-US" sz="2400" b="1"/>
              <a:t>机械臂初始动作</a:t>
            </a:r>
            <a:endParaRPr lang="zh-CN" altLang="en-US" sz="2400" b="1"/>
          </a:p>
        </p:txBody>
      </p:sp>
      <p:pic>
        <p:nvPicPr>
          <p:cNvPr id="11" name="图片 10"/>
          <p:cNvPicPr>
            <a:picLocks noChangeAspect="1"/>
          </p:cNvPicPr>
          <p:nvPr/>
        </p:nvPicPr>
        <p:blipFill>
          <a:blip r:embed="rId1"/>
          <a:stretch>
            <a:fillRect/>
          </a:stretch>
        </p:blipFill>
        <p:spPr>
          <a:xfrm>
            <a:off x="5615305" y="1273175"/>
            <a:ext cx="6178550" cy="41954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330325" y="3199130"/>
            <a:ext cx="3327400" cy="829945"/>
          </a:xfrm>
          <a:prstGeom prst="rect">
            <a:avLst/>
          </a:prstGeom>
          <a:noFill/>
        </p:spPr>
        <p:txBody>
          <a:bodyPr wrap="square" rtlCol="0">
            <a:spAutoFit/>
          </a:bodyPr>
          <a:p>
            <a:r>
              <a:rPr lang="en-US" altLang="zh-CN" sz="4800" b="1"/>
              <a:t>Run_2</a:t>
            </a:r>
            <a:r>
              <a:rPr lang="zh-CN" altLang="en-US" sz="4800" b="1"/>
              <a:t>动作</a:t>
            </a:r>
            <a:endParaRPr lang="zh-CN" altLang="en-US" sz="4800" b="1"/>
          </a:p>
        </p:txBody>
      </p:sp>
      <p:sp>
        <p:nvSpPr>
          <p:cNvPr id="5" name="文本框 4"/>
          <p:cNvSpPr txBox="1"/>
          <p:nvPr>
            <p:custDataLst>
              <p:tags r:id="rId1"/>
            </p:custDataLst>
          </p:nvPr>
        </p:nvSpPr>
        <p:spPr>
          <a:xfrm>
            <a:off x="1841500" y="4883150"/>
            <a:ext cx="3454400" cy="460375"/>
          </a:xfrm>
          <a:prstGeom prst="rect">
            <a:avLst/>
          </a:prstGeom>
          <a:noFill/>
        </p:spPr>
        <p:txBody>
          <a:bodyPr wrap="square" rtlCol="0">
            <a:spAutoFit/>
          </a:bodyPr>
          <a:p>
            <a:r>
              <a:rPr lang="zh-CN" altLang="en-US" sz="2400" b="1"/>
              <a:t>机械臂准备抓取动作</a:t>
            </a:r>
            <a:endParaRPr lang="zh-CN" altLang="en-US" sz="2400" b="1"/>
          </a:p>
        </p:txBody>
      </p:sp>
      <p:pic>
        <p:nvPicPr>
          <p:cNvPr id="12" name="图片 11"/>
          <p:cNvPicPr>
            <a:picLocks noChangeAspect="1"/>
          </p:cNvPicPr>
          <p:nvPr/>
        </p:nvPicPr>
        <p:blipFill>
          <a:blip r:embed="rId2"/>
          <a:stretch>
            <a:fillRect/>
          </a:stretch>
        </p:blipFill>
        <p:spPr>
          <a:xfrm>
            <a:off x="5650865" y="1630680"/>
            <a:ext cx="6230620" cy="38995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317625" y="3155950"/>
            <a:ext cx="3327400" cy="829945"/>
          </a:xfrm>
          <a:prstGeom prst="rect">
            <a:avLst/>
          </a:prstGeom>
          <a:noFill/>
        </p:spPr>
        <p:txBody>
          <a:bodyPr wrap="square" rtlCol="0">
            <a:spAutoFit/>
          </a:bodyPr>
          <a:p>
            <a:r>
              <a:rPr lang="en-US" altLang="zh-CN" sz="4800" b="1"/>
              <a:t>Run_3</a:t>
            </a:r>
            <a:r>
              <a:rPr lang="zh-CN" altLang="en-US" sz="4800" b="1"/>
              <a:t>动作</a:t>
            </a:r>
            <a:endParaRPr lang="zh-CN" altLang="en-US" sz="4800" b="1"/>
          </a:p>
        </p:txBody>
      </p:sp>
      <p:sp>
        <p:nvSpPr>
          <p:cNvPr id="5" name="文本框 4"/>
          <p:cNvSpPr txBox="1"/>
          <p:nvPr>
            <p:custDataLst>
              <p:tags r:id="rId1"/>
            </p:custDataLst>
          </p:nvPr>
        </p:nvSpPr>
        <p:spPr>
          <a:xfrm>
            <a:off x="1841500" y="4883150"/>
            <a:ext cx="3454400" cy="460375"/>
          </a:xfrm>
          <a:prstGeom prst="rect">
            <a:avLst/>
          </a:prstGeom>
          <a:noFill/>
        </p:spPr>
        <p:txBody>
          <a:bodyPr wrap="square" rtlCol="0">
            <a:spAutoFit/>
          </a:bodyPr>
          <a:p>
            <a:r>
              <a:rPr lang="zh-CN" altLang="en-US" sz="2400" b="1"/>
              <a:t>机械臂抓取动作</a:t>
            </a:r>
            <a:endParaRPr lang="zh-CN" altLang="en-US" sz="2400" b="1"/>
          </a:p>
        </p:txBody>
      </p:sp>
      <p:pic>
        <p:nvPicPr>
          <p:cNvPr id="13" name="图片 12"/>
          <p:cNvPicPr>
            <a:picLocks noChangeAspect="1"/>
          </p:cNvPicPr>
          <p:nvPr/>
        </p:nvPicPr>
        <p:blipFill>
          <a:blip r:embed="rId2"/>
          <a:stretch>
            <a:fillRect/>
          </a:stretch>
        </p:blipFill>
        <p:spPr>
          <a:xfrm>
            <a:off x="5379085" y="2074545"/>
            <a:ext cx="6015990" cy="34207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509395" y="3199130"/>
            <a:ext cx="3327400" cy="829945"/>
          </a:xfrm>
          <a:prstGeom prst="rect">
            <a:avLst/>
          </a:prstGeom>
          <a:noFill/>
        </p:spPr>
        <p:txBody>
          <a:bodyPr wrap="square" rtlCol="0">
            <a:spAutoFit/>
          </a:bodyPr>
          <a:p>
            <a:r>
              <a:rPr lang="en-US" altLang="zh-CN" sz="4800" b="1"/>
              <a:t>Run_4</a:t>
            </a:r>
            <a:r>
              <a:rPr lang="zh-CN" altLang="en-US" sz="4800" b="1"/>
              <a:t>动作</a:t>
            </a:r>
            <a:endParaRPr lang="zh-CN" altLang="en-US" sz="4800" b="1"/>
          </a:p>
        </p:txBody>
      </p:sp>
      <p:sp>
        <p:nvSpPr>
          <p:cNvPr id="5" name="文本框 4"/>
          <p:cNvSpPr txBox="1"/>
          <p:nvPr>
            <p:custDataLst>
              <p:tags r:id="rId1"/>
            </p:custDataLst>
          </p:nvPr>
        </p:nvSpPr>
        <p:spPr>
          <a:xfrm>
            <a:off x="1334770" y="4883150"/>
            <a:ext cx="3454400" cy="460375"/>
          </a:xfrm>
          <a:prstGeom prst="rect">
            <a:avLst/>
          </a:prstGeom>
          <a:noFill/>
        </p:spPr>
        <p:txBody>
          <a:bodyPr wrap="square" rtlCol="0">
            <a:spAutoFit/>
          </a:bodyPr>
          <a:p>
            <a:r>
              <a:rPr lang="zh-CN" altLang="en-US" sz="2400" b="1"/>
              <a:t>机械臂抓取后抬升动作</a:t>
            </a:r>
            <a:endParaRPr lang="zh-CN" altLang="en-US" sz="2400" b="1"/>
          </a:p>
        </p:txBody>
      </p:sp>
      <p:pic>
        <p:nvPicPr>
          <p:cNvPr id="14" name="图片 13"/>
          <p:cNvPicPr>
            <a:picLocks noChangeAspect="1"/>
          </p:cNvPicPr>
          <p:nvPr/>
        </p:nvPicPr>
        <p:blipFill>
          <a:blip r:embed="rId2"/>
          <a:stretch>
            <a:fillRect/>
          </a:stretch>
        </p:blipFill>
        <p:spPr>
          <a:xfrm>
            <a:off x="5121275" y="1135380"/>
            <a:ext cx="6050915" cy="45866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268730" y="3267075"/>
            <a:ext cx="3327400" cy="829945"/>
          </a:xfrm>
          <a:prstGeom prst="rect">
            <a:avLst/>
          </a:prstGeom>
          <a:noFill/>
        </p:spPr>
        <p:txBody>
          <a:bodyPr wrap="square" rtlCol="0">
            <a:spAutoFit/>
          </a:bodyPr>
          <a:p>
            <a:r>
              <a:rPr lang="en-US" altLang="zh-CN" sz="4800" b="1"/>
              <a:t>Run_5</a:t>
            </a:r>
            <a:r>
              <a:rPr lang="zh-CN" altLang="en-US" sz="4800" b="1"/>
              <a:t>动作</a:t>
            </a:r>
            <a:endParaRPr lang="zh-CN" altLang="en-US" sz="4800" b="1"/>
          </a:p>
        </p:txBody>
      </p:sp>
      <p:sp>
        <p:nvSpPr>
          <p:cNvPr id="5" name="文本框 4"/>
          <p:cNvSpPr txBox="1"/>
          <p:nvPr>
            <p:custDataLst>
              <p:tags r:id="rId1"/>
            </p:custDataLst>
          </p:nvPr>
        </p:nvSpPr>
        <p:spPr>
          <a:xfrm>
            <a:off x="1168400" y="4883150"/>
            <a:ext cx="4127500" cy="460375"/>
          </a:xfrm>
          <a:prstGeom prst="rect">
            <a:avLst/>
          </a:prstGeom>
          <a:noFill/>
        </p:spPr>
        <p:txBody>
          <a:bodyPr wrap="square" rtlCol="0">
            <a:spAutoFit/>
          </a:bodyPr>
          <a:p>
            <a:r>
              <a:rPr lang="zh-CN" altLang="en-US" sz="2400" b="1"/>
              <a:t>机械臂抓取物料返回动作</a:t>
            </a:r>
            <a:endParaRPr lang="zh-CN" altLang="en-US" sz="2400" b="1"/>
          </a:p>
        </p:txBody>
      </p:sp>
      <p:pic>
        <p:nvPicPr>
          <p:cNvPr id="16" name="图片 15"/>
          <p:cNvPicPr>
            <a:picLocks noChangeAspect="1"/>
          </p:cNvPicPr>
          <p:nvPr/>
        </p:nvPicPr>
        <p:blipFill>
          <a:blip r:embed="rId2"/>
          <a:stretch>
            <a:fillRect/>
          </a:stretch>
        </p:blipFill>
        <p:spPr>
          <a:xfrm>
            <a:off x="5226685" y="672465"/>
            <a:ext cx="5670550" cy="51238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446405" y="2506345"/>
            <a:ext cx="3658870" cy="812165"/>
          </a:xfrm>
          <a:prstGeom prst="rect">
            <a:avLst/>
          </a:prstGeom>
          <a:noFill/>
        </p:spPr>
        <p:txBody>
          <a:bodyPr wrap="square" rtlCol="0">
            <a:noAutofit/>
          </a:bodyPr>
          <a:p>
            <a:r>
              <a:rPr lang="en-US" altLang="zh-CN" sz="4800" b="1"/>
              <a:t>Run_1</a:t>
            </a:r>
            <a:endParaRPr lang="zh-CN" altLang="en-US" sz="4800" b="1"/>
          </a:p>
        </p:txBody>
      </p:sp>
      <p:sp>
        <p:nvSpPr>
          <p:cNvPr id="5" name="文本框 4"/>
          <p:cNvSpPr txBox="1"/>
          <p:nvPr>
            <p:custDataLst>
              <p:tags r:id="rId2"/>
            </p:custDataLst>
          </p:nvPr>
        </p:nvSpPr>
        <p:spPr>
          <a:xfrm>
            <a:off x="4864100" y="2526030"/>
            <a:ext cx="3327400" cy="829945"/>
          </a:xfrm>
          <a:prstGeom prst="rect">
            <a:avLst/>
          </a:prstGeom>
          <a:noFill/>
        </p:spPr>
        <p:txBody>
          <a:bodyPr wrap="square" rtlCol="0">
            <a:spAutoFit/>
          </a:bodyPr>
          <a:p>
            <a:r>
              <a:rPr lang="en-US" altLang="zh-CN" sz="4800" b="1"/>
              <a:t>Run_2</a:t>
            </a:r>
            <a:endParaRPr lang="zh-CN" altLang="en-US" sz="4800" b="1"/>
          </a:p>
        </p:txBody>
      </p:sp>
      <p:sp>
        <p:nvSpPr>
          <p:cNvPr id="6" name="文本框 5"/>
          <p:cNvSpPr txBox="1"/>
          <p:nvPr>
            <p:custDataLst>
              <p:tags r:id="rId3"/>
            </p:custDataLst>
          </p:nvPr>
        </p:nvSpPr>
        <p:spPr>
          <a:xfrm>
            <a:off x="8864600" y="2488565"/>
            <a:ext cx="3327400" cy="829945"/>
          </a:xfrm>
          <a:prstGeom prst="rect">
            <a:avLst/>
          </a:prstGeom>
          <a:noFill/>
        </p:spPr>
        <p:txBody>
          <a:bodyPr wrap="square" rtlCol="0">
            <a:spAutoFit/>
          </a:bodyPr>
          <a:p>
            <a:r>
              <a:rPr lang="en-US" altLang="zh-CN" sz="4800" b="1"/>
              <a:t>Run_3</a:t>
            </a:r>
            <a:endParaRPr lang="zh-CN" altLang="en-US" sz="4800" b="1"/>
          </a:p>
        </p:txBody>
      </p:sp>
      <p:sp>
        <p:nvSpPr>
          <p:cNvPr id="7" name="文本框 6"/>
          <p:cNvSpPr txBox="1"/>
          <p:nvPr>
            <p:custDataLst>
              <p:tags r:id="rId4"/>
            </p:custDataLst>
          </p:nvPr>
        </p:nvSpPr>
        <p:spPr>
          <a:xfrm>
            <a:off x="417830" y="5853430"/>
            <a:ext cx="3327400" cy="829945"/>
          </a:xfrm>
          <a:prstGeom prst="rect">
            <a:avLst/>
          </a:prstGeom>
          <a:noFill/>
        </p:spPr>
        <p:txBody>
          <a:bodyPr wrap="square" rtlCol="0">
            <a:spAutoFit/>
          </a:bodyPr>
          <a:p>
            <a:r>
              <a:rPr lang="en-US" altLang="zh-CN" sz="4800" b="1"/>
              <a:t>Run_4</a:t>
            </a:r>
            <a:endParaRPr lang="zh-CN" altLang="en-US" sz="4800" b="1"/>
          </a:p>
        </p:txBody>
      </p:sp>
      <p:sp>
        <p:nvSpPr>
          <p:cNvPr id="8" name="文本框 7"/>
          <p:cNvSpPr txBox="1"/>
          <p:nvPr>
            <p:custDataLst>
              <p:tags r:id="rId5"/>
            </p:custDataLst>
          </p:nvPr>
        </p:nvSpPr>
        <p:spPr>
          <a:xfrm>
            <a:off x="4864100" y="5771515"/>
            <a:ext cx="3327400" cy="829945"/>
          </a:xfrm>
          <a:prstGeom prst="rect">
            <a:avLst/>
          </a:prstGeom>
          <a:noFill/>
        </p:spPr>
        <p:txBody>
          <a:bodyPr wrap="square" rtlCol="0">
            <a:spAutoFit/>
          </a:bodyPr>
          <a:p>
            <a:r>
              <a:rPr lang="en-US" altLang="zh-CN" sz="4800" b="1"/>
              <a:t>Run_5</a:t>
            </a:r>
            <a:endParaRPr lang="zh-CN" altLang="en-US" sz="4800" b="1"/>
          </a:p>
        </p:txBody>
      </p:sp>
      <p:sp>
        <p:nvSpPr>
          <p:cNvPr id="9" name="文本框 8"/>
          <p:cNvSpPr txBox="1"/>
          <p:nvPr>
            <p:custDataLst>
              <p:tags r:id="rId6"/>
            </p:custDataLst>
          </p:nvPr>
        </p:nvSpPr>
        <p:spPr>
          <a:xfrm>
            <a:off x="8864600" y="3884930"/>
            <a:ext cx="3327400" cy="1076325"/>
          </a:xfrm>
          <a:prstGeom prst="rect">
            <a:avLst/>
          </a:prstGeom>
          <a:noFill/>
        </p:spPr>
        <p:txBody>
          <a:bodyPr wrap="square" rtlCol="0">
            <a:spAutoFit/>
          </a:bodyPr>
          <a:p>
            <a:r>
              <a:rPr lang="en-US" sz="3200" b="1"/>
              <a:t>5</a:t>
            </a:r>
            <a:r>
              <a:rPr lang="zh-CN" altLang="en-US" sz="3200" b="1"/>
              <a:t>个抓取动作的编写，执行</a:t>
            </a:r>
            <a:endParaRPr lang="zh-CN" altLang="en-US" sz="3200" b="1"/>
          </a:p>
        </p:txBody>
      </p:sp>
      <p:pic>
        <p:nvPicPr>
          <p:cNvPr id="11" name="图片 10"/>
          <p:cNvPicPr>
            <a:picLocks noChangeAspect="1"/>
          </p:cNvPicPr>
          <p:nvPr/>
        </p:nvPicPr>
        <p:blipFill>
          <a:blip r:embed="rId7"/>
          <a:stretch>
            <a:fillRect/>
          </a:stretch>
        </p:blipFill>
        <p:spPr>
          <a:xfrm>
            <a:off x="279400" y="278130"/>
            <a:ext cx="3465830" cy="2353310"/>
          </a:xfrm>
          <a:prstGeom prst="rect">
            <a:avLst/>
          </a:prstGeom>
        </p:spPr>
      </p:pic>
      <p:pic>
        <p:nvPicPr>
          <p:cNvPr id="12" name="图片 11"/>
          <p:cNvPicPr>
            <a:picLocks noChangeAspect="1"/>
          </p:cNvPicPr>
          <p:nvPr/>
        </p:nvPicPr>
        <p:blipFill>
          <a:blip r:embed="rId8"/>
          <a:stretch>
            <a:fillRect/>
          </a:stretch>
        </p:blipFill>
        <p:spPr>
          <a:xfrm>
            <a:off x="4179570" y="271780"/>
            <a:ext cx="3832225" cy="2398395"/>
          </a:xfrm>
          <a:prstGeom prst="rect">
            <a:avLst/>
          </a:prstGeom>
        </p:spPr>
      </p:pic>
      <p:pic>
        <p:nvPicPr>
          <p:cNvPr id="13" name="图片 12"/>
          <p:cNvPicPr>
            <a:picLocks noChangeAspect="1"/>
          </p:cNvPicPr>
          <p:nvPr/>
        </p:nvPicPr>
        <p:blipFill>
          <a:blip r:embed="rId9"/>
          <a:stretch>
            <a:fillRect/>
          </a:stretch>
        </p:blipFill>
        <p:spPr>
          <a:xfrm>
            <a:off x="8086090" y="271780"/>
            <a:ext cx="4217670" cy="2398395"/>
          </a:xfrm>
          <a:prstGeom prst="rect">
            <a:avLst/>
          </a:prstGeom>
        </p:spPr>
      </p:pic>
      <p:pic>
        <p:nvPicPr>
          <p:cNvPr id="14" name="图片 13"/>
          <p:cNvPicPr>
            <a:picLocks noChangeAspect="1"/>
          </p:cNvPicPr>
          <p:nvPr/>
        </p:nvPicPr>
        <p:blipFill>
          <a:blip r:embed="rId10"/>
          <a:stretch>
            <a:fillRect/>
          </a:stretch>
        </p:blipFill>
        <p:spPr>
          <a:xfrm>
            <a:off x="279400" y="3355975"/>
            <a:ext cx="3465830" cy="2626995"/>
          </a:xfrm>
          <a:prstGeom prst="rect">
            <a:avLst/>
          </a:prstGeom>
        </p:spPr>
      </p:pic>
      <p:pic>
        <p:nvPicPr>
          <p:cNvPr id="16" name="图片 15"/>
          <p:cNvPicPr>
            <a:picLocks noChangeAspect="1"/>
          </p:cNvPicPr>
          <p:nvPr/>
        </p:nvPicPr>
        <p:blipFill>
          <a:blip r:embed="rId11"/>
          <a:stretch>
            <a:fillRect/>
          </a:stretch>
        </p:blipFill>
        <p:spPr>
          <a:xfrm>
            <a:off x="4615180" y="3318510"/>
            <a:ext cx="2961640" cy="26758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787650" y="1118870"/>
            <a:ext cx="6616065" cy="2409825"/>
          </a:xfrm>
          <a:prstGeom prst="rect">
            <a:avLst/>
          </a:prstGeom>
          <a:noFill/>
        </p:spPr>
        <p:txBody>
          <a:bodyPr wrap="square" rtlCol="0">
            <a:noAutofit/>
          </a:bodyPr>
          <a:p>
            <a:pPr indent="457200"/>
            <a:r>
              <a:rPr lang="zh-CN" altLang="en-US" sz="3200"/>
              <a:t>完成前面的基本动作，可在</a:t>
            </a:r>
            <a:r>
              <a:rPr lang="en-US" altLang="zh-CN" sz="3200"/>
              <a:t>Run_6</a:t>
            </a:r>
            <a:r>
              <a:rPr lang="zh-CN" altLang="en-US" sz="3200"/>
              <a:t>写入将物料放入料仓中的动作</a:t>
            </a:r>
            <a:endParaRPr lang="zh-CN" altLang="en-US" sz="3200"/>
          </a:p>
          <a:p>
            <a:pPr indent="457200"/>
            <a:endParaRPr lang="zh-CN" altLang="en-US" sz="3200"/>
          </a:p>
        </p:txBody>
      </p:sp>
      <p:sp>
        <p:nvSpPr>
          <p:cNvPr id="6" name="文本框 5"/>
          <p:cNvSpPr txBox="1"/>
          <p:nvPr/>
        </p:nvSpPr>
        <p:spPr>
          <a:xfrm>
            <a:off x="7226300" y="3444875"/>
            <a:ext cx="3765550" cy="922020"/>
          </a:xfrm>
          <a:prstGeom prst="rect">
            <a:avLst/>
          </a:prstGeom>
          <a:noFill/>
        </p:spPr>
        <p:txBody>
          <a:bodyPr wrap="square" rtlCol="0">
            <a:spAutoFit/>
          </a:bodyPr>
          <a:p>
            <a:r>
              <a:rPr lang="zh-CN" altLang="en-US"/>
              <a:t>将</a:t>
            </a:r>
            <a:r>
              <a:rPr lang="en-US" altLang="zh-CN"/>
              <a:t>Debug_Await</a:t>
            </a:r>
            <a:r>
              <a:rPr lang="zh-CN" altLang="en-US"/>
              <a:t>替换为延时函数，</a:t>
            </a:r>
            <a:r>
              <a:rPr lang="en-US" altLang="zh-CN"/>
              <a:t>My</a:t>
            </a:r>
            <a:r>
              <a:rPr lang="en-US" altLang="zh-CN"/>
              <a:t>_mDelay(1000),</a:t>
            </a:r>
            <a:r>
              <a:rPr lang="zh-CN" altLang="en-US"/>
              <a:t>实现机械臂连续动作</a:t>
            </a:r>
            <a:endParaRPr lang="zh-CN" altLang="en-US"/>
          </a:p>
        </p:txBody>
      </p:sp>
      <p:pic>
        <p:nvPicPr>
          <p:cNvPr id="2" name="图片 1"/>
          <p:cNvPicPr>
            <a:picLocks noChangeAspect="1"/>
          </p:cNvPicPr>
          <p:nvPr/>
        </p:nvPicPr>
        <p:blipFill>
          <a:blip r:embed="rId1"/>
          <a:stretch>
            <a:fillRect/>
          </a:stretch>
        </p:blipFill>
        <p:spPr>
          <a:xfrm>
            <a:off x="1057275" y="2732405"/>
            <a:ext cx="5038725" cy="3124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73050" y="147955"/>
            <a:ext cx="3333750" cy="6710680"/>
          </a:xfrm>
          <a:prstGeom prst="rect">
            <a:avLst/>
          </a:prstGeom>
          <a:noFill/>
        </p:spPr>
        <p:txBody>
          <a:bodyPr wrap="square" rtlCol="0" anchor="t">
            <a:noAutofit/>
          </a:bodyPr>
          <a:p>
            <a:pPr indent="0" fontAlgn="auto">
              <a:lnSpc>
                <a:spcPts val="1160"/>
              </a:lnSpc>
            </a:pPr>
            <a:r>
              <a:rPr lang="en-US" altLang="zh-CN"/>
              <a:t>int16_t Open_Claw = 2070;</a:t>
            </a:r>
            <a:endParaRPr lang="en-US" altLang="zh-CN"/>
          </a:p>
          <a:p>
            <a:pPr indent="0" fontAlgn="auto">
              <a:lnSpc>
                <a:spcPts val="1160"/>
              </a:lnSpc>
            </a:pPr>
            <a:r>
              <a:rPr lang="en-US" altLang="zh-CN"/>
              <a:t>int16_t Mid_Claw = 1700;</a:t>
            </a:r>
            <a:endParaRPr lang="en-US" altLang="zh-CN"/>
          </a:p>
          <a:p>
            <a:pPr indent="0" fontAlgn="auto">
              <a:lnSpc>
                <a:spcPts val="1160"/>
              </a:lnSpc>
            </a:pPr>
            <a:r>
              <a:rPr lang="en-US" altLang="zh-CN"/>
              <a:t>int16_t Close_Claw = 1550;</a:t>
            </a:r>
            <a:endParaRPr lang="en-US" altLang="zh-CN"/>
          </a:p>
          <a:p>
            <a:pPr indent="0" fontAlgn="auto">
              <a:lnSpc>
                <a:spcPts val="1160"/>
              </a:lnSpc>
            </a:pPr>
            <a:r>
              <a:rPr lang="en-US" altLang="zh-CN"/>
              <a:t>/* ------------------------------------------------------------*/</a:t>
            </a:r>
            <a:endParaRPr lang="en-US" altLang="zh-CN"/>
          </a:p>
          <a:p>
            <a:pPr indent="0" fontAlgn="auto">
              <a:lnSpc>
                <a:spcPts val="1160"/>
              </a:lnSpc>
            </a:pPr>
            <a:r>
              <a:rPr lang="en-US" altLang="zh-CN"/>
              <a:t>Servo bowl_1 		= {//1</a:t>
            </a:r>
            <a:r>
              <a:rPr lang="zh-CN" altLang="en-US"/>
              <a:t>号碗</a:t>
            </a:r>
            <a:endParaRPr lang="zh-CN" altLang="en-US"/>
          </a:p>
          <a:p>
            <a:pPr indent="0" fontAlgn="auto">
              <a:lnSpc>
                <a:spcPts val="1160"/>
              </a:lnSpc>
            </a:pPr>
            <a:r>
              <a:rPr lang="en-US" altLang="zh-CN"/>
              <a:t>								773,</a:t>
            </a:r>
            <a:endParaRPr lang="en-US" altLang="zh-CN"/>
          </a:p>
          <a:p>
            <a:pPr indent="0" fontAlgn="auto">
              <a:lnSpc>
                <a:spcPts val="1160"/>
              </a:lnSpc>
            </a:pPr>
            <a:r>
              <a:rPr lang="en-US" altLang="zh-CN"/>
              <a:t>								2200,</a:t>
            </a:r>
            <a:endParaRPr lang="en-US" altLang="zh-CN"/>
          </a:p>
          <a:p>
            <a:pPr indent="0" fontAlgn="auto">
              <a:lnSpc>
                <a:spcPts val="1160"/>
              </a:lnSpc>
            </a:pPr>
            <a:r>
              <a:rPr lang="en-US" altLang="zh-CN"/>
              <a:t>								2172,//&gt;&gt;&gt;&gt;&gt;2050</a:t>
            </a:r>
            <a:endParaRPr lang="en-US" altLang="zh-CN"/>
          </a:p>
          <a:p>
            <a:pPr indent="0" fontAlgn="auto">
              <a:lnSpc>
                <a:spcPts val="1160"/>
              </a:lnSpc>
            </a:pPr>
            <a:r>
              <a:rPr lang="en-US" altLang="zh-CN"/>
              <a:t>								};</a:t>
            </a:r>
            <a:endParaRPr lang="en-US" altLang="zh-CN"/>
          </a:p>
          <a:p>
            <a:pPr indent="0" fontAlgn="auto">
              <a:lnSpc>
                <a:spcPts val="1160"/>
              </a:lnSpc>
            </a:pPr>
            <a:r>
              <a:rPr lang="en-US" altLang="zh-CN"/>
              <a:t>Servo bowl_2 		= {//2</a:t>
            </a:r>
            <a:r>
              <a:rPr lang="zh-CN" altLang="en-US"/>
              <a:t>号</a:t>
            </a:r>
            <a:endParaRPr lang="zh-CN" altLang="en-US"/>
          </a:p>
          <a:p>
            <a:pPr indent="0" fontAlgn="auto">
              <a:lnSpc>
                <a:spcPts val="1160"/>
              </a:lnSpc>
            </a:pPr>
            <a:r>
              <a:rPr lang="en-US" altLang="zh-CN"/>
              <a:t>								1014,</a:t>
            </a:r>
            <a:endParaRPr lang="en-US" altLang="zh-CN"/>
          </a:p>
          <a:p>
            <a:pPr indent="0" fontAlgn="auto">
              <a:lnSpc>
                <a:spcPts val="1160"/>
              </a:lnSpc>
            </a:pPr>
            <a:r>
              <a:rPr lang="en-US" altLang="zh-CN"/>
              <a:t>								2150,</a:t>
            </a:r>
            <a:endParaRPr lang="en-US" altLang="zh-CN"/>
          </a:p>
          <a:p>
            <a:pPr indent="0" fontAlgn="auto">
              <a:lnSpc>
                <a:spcPts val="1160"/>
              </a:lnSpc>
            </a:pPr>
            <a:r>
              <a:rPr lang="en-US" altLang="zh-CN"/>
              <a:t>								2165,//&gt;&gt;&gt;&gt;&gt;2050</a:t>
            </a:r>
            <a:endParaRPr lang="en-US" altLang="zh-CN"/>
          </a:p>
          <a:p>
            <a:pPr indent="0" fontAlgn="auto">
              <a:lnSpc>
                <a:spcPts val="1160"/>
              </a:lnSpc>
            </a:pPr>
            <a:r>
              <a:rPr lang="en-US" altLang="zh-CN"/>
              <a:t>								};</a:t>
            </a:r>
            <a:endParaRPr lang="en-US" altLang="zh-CN"/>
          </a:p>
          <a:p>
            <a:pPr indent="0" fontAlgn="auto">
              <a:lnSpc>
                <a:spcPts val="1160"/>
              </a:lnSpc>
            </a:pPr>
            <a:r>
              <a:rPr lang="en-US" altLang="zh-CN"/>
              <a:t>Servo bowl_3 		= {//3</a:t>
            </a:r>
            <a:r>
              <a:rPr lang="zh-CN" altLang="en-US"/>
              <a:t>号</a:t>
            </a:r>
            <a:endParaRPr lang="zh-CN" altLang="en-US"/>
          </a:p>
          <a:p>
            <a:pPr indent="0" fontAlgn="auto">
              <a:lnSpc>
                <a:spcPts val="1160"/>
              </a:lnSpc>
            </a:pPr>
            <a:r>
              <a:rPr lang="en-US" altLang="zh-CN"/>
              <a:t>								1251,</a:t>
            </a:r>
            <a:endParaRPr lang="en-US" altLang="zh-CN"/>
          </a:p>
          <a:p>
            <a:pPr indent="0" fontAlgn="auto">
              <a:lnSpc>
                <a:spcPts val="1160"/>
              </a:lnSpc>
            </a:pPr>
            <a:r>
              <a:rPr lang="en-US" altLang="zh-CN"/>
              <a:t>								2200,</a:t>
            </a:r>
            <a:endParaRPr lang="en-US" altLang="zh-CN"/>
          </a:p>
          <a:p>
            <a:pPr indent="0" fontAlgn="auto">
              <a:lnSpc>
                <a:spcPts val="1160"/>
              </a:lnSpc>
            </a:pPr>
            <a:r>
              <a:rPr lang="en-US" altLang="zh-CN"/>
              <a:t>				2164,//&gt;&gt;&gt;&gt;&gt;2050</a:t>
            </a:r>
            <a:endParaRPr lang="en-US" altLang="zh-CN"/>
          </a:p>
          <a:p>
            <a:pPr indent="0" fontAlgn="auto">
              <a:lnSpc>
                <a:spcPts val="1160"/>
              </a:lnSpc>
            </a:pPr>
            <a:r>
              <a:rPr lang="en-US" altLang="zh-CN"/>
              <a:t>								};</a:t>
            </a:r>
            <a:endParaRPr lang="zh-CN" altLang="en-US"/>
          </a:p>
        </p:txBody>
      </p:sp>
      <p:sp>
        <p:nvSpPr>
          <p:cNvPr id="5" name="文本框 4"/>
          <p:cNvSpPr txBox="1"/>
          <p:nvPr/>
        </p:nvSpPr>
        <p:spPr>
          <a:xfrm>
            <a:off x="5778500" y="249873"/>
            <a:ext cx="5080000" cy="337185"/>
          </a:xfrm>
          <a:prstGeom prst="rect">
            <a:avLst/>
          </a:prstGeom>
        </p:spPr>
        <p:txBody>
          <a:bodyPr>
            <a:spAutoFit/>
          </a:bodyPr>
          <a:p>
            <a:r>
              <a:rPr lang="zh-CN" altLang="en-US" sz="1600"/>
              <a:t>总线舵机「数值 </a:t>
            </a:r>
            <a:r>
              <a:rPr lang="en-US" altLang="zh-CN" sz="1600"/>
              <a:t>↔ </a:t>
            </a:r>
            <a:r>
              <a:rPr lang="zh-CN" altLang="en-US" sz="1600"/>
              <a:t>角度」精准对照表</a:t>
            </a:r>
            <a:endParaRPr lang="zh-CN" altLang="en-US" sz="1600"/>
          </a:p>
        </p:txBody>
      </p:sp>
      <p:sp>
        <p:nvSpPr>
          <p:cNvPr id="7" name="文本框 6"/>
          <p:cNvSpPr txBox="1"/>
          <p:nvPr/>
        </p:nvSpPr>
        <p:spPr>
          <a:xfrm>
            <a:off x="5883910" y="587375"/>
            <a:ext cx="5080000" cy="783590"/>
          </a:xfrm>
          <a:prstGeom prst="rect">
            <a:avLst/>
          </a:prstGeom>
        </p:spPr>
        <p:txBody>
          <a:bodyPr>
            <a:spAutoFit/>
          </a:bodyPr>
          <a:p>
            <a:pPr marL="0" indent="0">
              <a:lnSpc>
                <a:spcPts val="1800"/>
              </a:lnSpc>
              <a:spcBef>
                <a:spcPct val="0"/>
              </a:spcBef>
              <a:spcAft>
                <a:spcPct val="0"/>
              </a:spcAft>
            </a:pPr>
            <a:r>
              <a:rPr lang="zh-CN" altLang="en-US" sz="1600" b="0">
                <a:solidFill>
                  <a:srgbClr val="000000"/>
                </a:solidFill>
              </a:rPr>
              <a:t>数值范围：</a:t>
            </a:r>
            <a:r>
              <a:rPr lang="en-US" altLang="zh-CN" sz="1600" b="1">
                <a:solidFill>
                  <a:srgbClr val="000000"/>
                </a:solidFill>
              </a:rPr>
              <a:t>0 ~ 4095</a:t>
            </a:r>
            <a:endParaRPr lang="en-US" altLang="zh-CN" sz="1600" b="1">
              <a:solidFill>
                <a:srgbClr val="000000"/>
              </a:solidFill>
            </a:endParaRPr>
          </a:p>
          <a:p>
            <a:pPr marL="0" indent="0">
              <a:lnSpc>
                <a:spcPts val="1800"/>
              </a:lnSpc>
              <a:spcBef>
                <a:spcPct val="0"/>
              </a:spcBef>
              <a:spcAft>
                <a:spcPct val="0"/>
              </a:spcAft>
            </a:pPr>
            <a:r>
              <a:rPr lang="zh-CN" altLang="en-US" sz="1600" b="0">
                <a:solidFill>
                  <a:srgbClr val="000000"/>
                </a:solidFill>
              </a:rPr>
              <a:t>对应角度：</a:t>
            </a:r>
            <a:r>
              <a:rPr lang="en-US" altLang="zh-CN" sz="1600" b="1">
                <a:solidFill>
                  <a:srgbClr val="000000"/>
                </a:solidFill>
              </a:rPr>
              <a:t>0° ~ 360°</a:t>
            </a:r>
            <a:endParaRPr lang="en-US" altLang="zh-CN" sz="1600" b="1">
              <a:solidFill>
                <a:srgbClr val="000000"/>
              </a:solidFill>
            </a:endParaRPr>
          </a:p>
          <a:p>
            <a:pPr marL="0" indent="0">
              <a:lnSpc>
                <a:spcPts val="1800"/>
              </a:lnSpc>
              <a:spcBef>
                <a:spcPct val="0"/>
              </a:spcBef>
              <a:spcAft>
                <a:spcPct val="0"/>
              </a:spcAft>
            </a:pPr>
            <a:r>
              <a:rPr lang="zh-CN" altLang="en-US" sz="1600" b="0">
                <a:solidFill>
                  <a:srgbClr val="000000"/>
                </a:solidFill>
              </a:rPr>
              <a:t>换算公式：</a:t>
            </a:r>
            <a:r>
              <a:rPr lang="zh-CN" altLang="en-US" sz="1600" b="1">
                <a:solidFill>
                  <a:srgbClr val="000000"/>
                </a:solidFill>
              </a:rPr>
              <a:t>角度 </a:t>
            </a:r>
            <a:r>
              <a:rPr lang="en-US" altLang="zh-CN" sz="1600" b="1">
                <a:solidFill>
                  <a:srgbClr val="000000"/>
                </a:solidFill>
              </a:rPr>
              <a:t>= </a:t>
            </a:r>
            <a:r>
              <a:rPr lang="zh-CN" altLang="en-US" sz="1600" b="1">
                <a:solidFill>
                  <a:srgbClr val="000000"/>
                </a:solidFill>
              </a:rPr>
              <a:t>数值 </a:t>
            </a:r>
            <a:r>
              <a:rPr lang="en-US" altLang="zh-CN" sz="1600" b="1">
                <a:solidFill>
                  <a:srgbClr val="000000"/>
                </a:solidFill>
              </a:rPr>
              <a:t>× 0.087912</a:t>
            </a:r>
            <a:endParaRPr lang="en-US" altLang="zh-CN" sz="1600" b="1">
              <a:solidFill>
                <a:srgbClr val="000000"/>
              </a:solidFill>
            </a:endParaRPr>
          </a:p>
        </p:txBody>
      </p:sp>
      <p:graphicFrame>
        <p:nvGraphicFramePr>
          <p:cNvPr id="8" name="表格 7"/>
          <p:cNvGraphicFramePr/>
          <p:nvPr/>
        </p:nvGraphicFramePr>
        <p:xfrm>
          <a:off x="5778500" y="1440180"/>
          <a:ext cx="5560060" cy="1280160"/>
        </p:xfrm>
        <a:graphic>
          <a:graphicData uri="http://schemas.openxmlformats.org/drawingml/2006/table">
            <a:tbl>
              <a:tblPr/>
              <a:tblGrid>
                <a:gridCol w="1259840"/>
                <a:gridCol w="1259840"/>
                <a:gridCol w="1259840"/>
                <a:gridCol w="1780540"/>
              </a:tblGrid>
              <a:tr h="320040">
                <a:tc>
                  <a:txBody>
                    <a:bodyPr/>
                    <a:p>
                      <a:pPr algn="l"/>
                      <a:r>
                        <a:rPr lang="zh-CN" altLang="en-US" sz="1100"/>
                        <a:t>名称</a:t>
                      </a:r>
                      <a:r>
                        <a:rPr lang="en-US" altLang="zh-CN" sz="1100"/>
                        <a:t>ID4</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舵机数值</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实际角度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机械状态</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en-US" altLang="zh-CN" sz="1100"/>
                        <a:t>Close_Claw</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1550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136.3°</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夹爪完全闭合</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en-US" altLang="zh-CN" sz="1100"/>
                        <a:t>Mid_Claw</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1700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149.5°</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夹爪半开中间位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en-US" altLang="zh-CN" sz="1100"/>
                        <a:t>Open_Claw</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2070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182.0°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夹爪完全张开</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bl>
          </a:graphicData>
        </a:graphic>
      </p:graphicFrame>
      <p:graphicFrame>
        <p:nvGraphicFramePr>
          <p:cNvPr id="9" name="表格 8"/>
          <p:cNvGraphicFramePr/>
          <p:nvPr/>
        </p:nvGraphicFramePr>
        <p:xfrm>
          <a:off x="5778500" y="2788920"/>
          <a:ext cx="5560060" cy="1280160"/>
        </p:xfrm>
        <a:graphic>
          <a:graphicData uri="http://schemas.openxmlformats.org/drawingml/2006/table">
            <a:tbl>
              <a:tblPr/>
              <a:tblGrid>
                <a:gridCol w="1390015"/>
                <a:gridCol w="1390015"/>
                <a:gridCol w="1025525"/>
                <a:gridCol w="1754505"/>
              </a:tblGrid>
              <a:tr h="320040">
                <a:tc>
                  <a:txBody>
                    <a:bodyPr/>
                    <a:p>
                      <a:pPr algn="l"/>
                      <a:r>
                        <a:rPr lang="zh-CN" altLang="en-US" sz="1100"/>
                        <a:t>名称</a:t>
                      </a:r>
                      <a:r>
                        <a:rPr lang="en-US" altLang="zh-CN" sz="1100"/>
                        <a:t> ID1</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舵机数值</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实际角度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状态</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最小位置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773</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67.9°</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最低角度限位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最大位置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2200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193.4°</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最高角度限位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工作位置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2172</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190.9°</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正常工作角度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bl>
          </a:graphicData>
        </a:graphic>
      </p:graphicFrame>
      <p:graphicFrame>
        <p:nvGraphicFramePr>
          <p:cNvPr id="10" name="表格 9"/>
          <p:cNvGraphicFramePr/>
          <p:nvPr/>
        </p:nvGraphicFramePr>
        <p:xfrm>
          <a:off x="5778500" y="4082415"/>
          <a:ext cx="5560060" cy="1280160"/>
        </p:xfrm>
        <a:graphic>
          <a:graphicData uri="http://schemas.openxmlformats.org/drawingml/2006/table">
            <a:tbl>
              <a:tblPr/>
              <a:tblGrid>
                <a:gridCol w="1390015"/>
                <a:gridCol w="1390015"/>
                <a:gridCol w="1390015"/>
                <a:gridCol w="1390015"/>
              </a:tblGrid>
              <a:tr h="320040">
                <a:tc>
                  <a:txBody>
                    <a:bodyPr/>
                    <a:p>
                      <a:pPr algn="l"/>
                      <a:r>
                        <a:rPr lang="zh-CN" altLang="en-US" sz="1100"/>
                        <a:t>名称</a:t>
                      </a:r>
                      <a:r>
                        <a:rPr lang="en-US" altLang="zh-CN" sz="1100"/>
                        <a:t> ID2</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舵机数值</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实际角度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状态</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最小位置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1014</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89.1°</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最低角度限位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最大位置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2150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189.0°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最高角度限位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工作位置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2165</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190.3°</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正常工作角度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bl>
          </a:graphicData>
        </a:graphic>
      </p:graphicFrame>
      <p:graphicFrame>
        <p:nvGraphicFramePr>
          <p:cNvPr id="11" name="表格 10"/>
          <p:cNvGraphicFramePr/>
          <p:nvPr/>
        </p:nvGraphicFramePr>
        <p:xfrm>
          <a:off x="5777230" y="5487035"/>
          <a:ext cx="5562600" cy="1280160"/>
        </p:xfrm>
        <a:graphic>
          <a:graphicData uri="http://schemas.openxmlformats.org/drawingml/2006/table">
            <a:tbl>
              <a:tblPr/>
              <a:tblGrid>
                <a:gridCol w="1390650"/>
                <a:gridCol w="1390650"/>
                <a:gridCol w="1390650"/>
                <a:gridCol w="1390650"/>
              </a:tblGrid>
              <a:tr h="320040">
                <a:tc>
                  <a:txBody>
                    <a:bodyPr/>
                    <a:p>
                      <a:pPr algn="l"/>
                      <a:r>
                        <a:rPr lang="zh-CN" altLang="en-US" sz="1100"/>
                        <a:t>名称</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舵机数值</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实际角度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状态</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最小位置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1251</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110.0°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最低角度限位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最大位置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2200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193.4°</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最高角度限位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320040">
                <a:tc>
                  <a:txBody>
                    <a:bodyPr/>
                    <a:p>
                      <a:pPr algn="l"/>
                      <a:r>
                        <a:rPr lang="zh-CN" altLang="en-US" sz="1100"/>
                        <a:t>工作位置</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2164</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190.2°</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正常工作角度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bl>
          </a:graphicData>
        </a:graphic>
      </p:graphicFrame>
      <p:graphicFrame>
        <p:nvGraphicFramePr>
          <p:cNvPr id="12" name="表格 11"/>
          <p:cNvGraphicFramePr/>
          <p:nvPr/>
        </p:nvGraphicFramePr>
        <p:xfrm>
          <a:off x="3486785" y="3630295"/>
          <a:ext cx="2044065" cy="3093720"/>
        </p:xfrm>
        <a:graphic>
          <a:graphicData uri="http://schemas.openxmlformats.org/drawingml/2006/table">
            <a:tbl>
              <a:tblPr/>
              <a:tblGrid>
                <a:gridCol w="681355"/>
                <a:gridCol w="681355"/>
                <a:gridCol w="681355"/>
              </a:tblGrid>
              <a:tr h="487680">
                <a:tc>
                  <a:txBody>
                    <a:bodyPr/>
                    <a:p>
                      <a:pPr algn="l"/>
                      <a:r>
                        <a:rPr lang="zh-CN" altLang="en-US" sz="1100"/>
                        <a:t>舵机数值</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角度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用途参考</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487680">
                <a:tc>
                  <a:txBody>
                    <a:bodyPr/>
                    <a:p>
                      <a:pPr algn="l"/>
                      <a:r>
                        <a:rPr lang="en-US" altLang="zh-CN" sz="1100"/>
                        <a:t>1024</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90.0°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垂直 </a:t>
                      </a:r>
                      <a:r>
                        <a:rPr lang="en-US" altLang="zh-CN" sz="1100"/>
                        <a:t>90 </a:t>
                      </a:r>
                      <a:r>
                        <a:rPr lang="zh-CN" altLang="en-US" sz="1100"/>
                        <a:t>度</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487680">
                <a:tc>
                  <a:txBody>
                    <a:bodyPr/>
                    <a:p>
                      <a:pPr algn="l"/>
                      <a:r>
                        <a:rPr lang="en-US" altLang="zh-CN" sz="1100"/>
                        <a:t>2048</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180.0°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水平中位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487680">
                <a:tc>
                  <a:txBody>
                    <a:bodyPr/>
                    <a:p>
                      <a:pPr algn="l"/>
                      <a:r>
                        <a:rPr lang="en-US" altLang="zh-CN" sz="1100"/>
                        <a:t>2050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180.2°</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你原设计中位</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655320">
                <a:tc>
                  <a:txBody>
                    <a:bodyPr/>
                    <a:p>
                      <a:pPr algn="l"/>
                      <a:r>
                        <a:rPr lang="en-US" altLang="zh-CN" sz="1100"/>
                        <a:t>2160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190.0°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碗舵机统一工作角</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r h="487680">
                <a:tc>
                  <a:txBody>
                    <a:bodyPr/>
                    <a:p>
                      <a:pPr algn="l"/>
                      <a:r>
                        <a:rPr lang="en-US" altLang="zh-CN" sz="1100"/>
                        <a:t>2070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en-US" altLang="zh-CN" sz="1100"/>
                        <a:t>182.0°</a:t>
                      </a:r>
                      <a:endParaRPr lang="en-US" altLang="zh-CN"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c>
                  <a:txBody>
                    <a:bodyPr/>
                    <a:p>
                      <a:pPr algn="l"/>
                      <a:r>
                        <a:rPr lang="zh-CN" altLang="en-US" sz="1100"/>
                        <a:t>夹爪全开</a:t>
                      </a:r>
                      <a:endParaRPr lang="zh-CN" altLang="en-US" sz="1100"/>
                    </a:p>
                  </a:txBody>
                  <a:tcPr marL="76517" marR="76517" marT="76517" marB="76517" anchor="ctr" anchorCtr="0">
                    <a:lnL w="9525" cap="flat" cmpd="sng">
                      <a:solidFill>
                        <a:srgbClr val="CCCCCC"/>
                      </a:solidFill>
                      <a:prstDash val="solid"/>
                      <a:headEnd type="none" w="med" len="med"/>
                      <a:tailEnd type="none" w="med" len="med"/>
                    </a:lnL>
                    <a:lnR w="9525" cap="flat" cmpd="sng">
                      <a:solidFill>
                        <a:srgbClr val="CCCCCC"/>
                      </a:solidFill>
                      <a:prstDash val="solid"/>
                      <a:headEnd type="none" w="med" len="med"/>
                      <a:tailEnd type="none" w="med" len="med"/>
                    </a:lnR>
                    <a:lnT w="9525" cap="flat" cmpd="sng">
                      <a:solidFill>
                        <a:srgbClr val="CCCCCC"/>
                      </a:solidFill>
                      <a:prstDash val="solid"/>
                      <a:headEnd type="none" w="med" len="med"/>
                      <a:tailEnd type="none" w="med" len="med"/>
                    </a:lnT>
                    <a:lnB w="9525" cap="flat" cmpd="sng">
                      <a:solidFill>
                        <a:srgbClr val="CCCCCC"/>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787650" y="1118870"/>
            <a:ext cx="6616065" cy="2409825"/>
          </a:xfrm>
          <a:prstGeom prst="rect">
            <a:avLst/>
          </a:prstGeom>
          <a:noFill/>
        </p:spPr>
        <p:txBody>
          <a:bodyPr wrap="square" rtlCol="0">
            <a:noAutofit/>
          </a:bodyPr>
          <a:p>
            <a:pPr indent="457200"/>
            <a:r>
              <a:rPr lang="zh-CN" altLang="en-US" sz="3200"/>
              <a:t>完成前面的基本动作，可在</a:t>
            </a:r>
            <a:r>
              <a:rPr lang="en-US" altLang="zh-CN" sz="3200"/>
              <a:t>Run_6</a:t>
            </a:r>
            <a:r>
              <a:rPr lang="zh-CN" altLang="en-US" sz="3200"/>
              <a:t>写入将物料放入料仓中的动作</a:t>
            </a:r>
            <a:endParaRPr lang="zh-CN" altLang="en-US" sz="3200"/>
          </a:p>
          <a:p>
            <a:pPr indent="457200"/>
            <a:endParaRPr lang="zh-CN" altLang="en-US" sz="3200"/>
          </a:p>
        </p:txBody>
      </p:sp>
      <p:sp>
        <p:nvSpPr>
          <p:cNvPr id="6" name="文本框 5"/>
          <p:cNvSpPr txBox="1"/>
          <p:nvPr/>
        </p:nvSpPr>
        <p:spPr>
          <a:xfrm>
            <a:off x="7226300" y="3444875"/>
            <a:ext cx="3765550" cy="922020"/>
          </a:xfrm>
          <a:prstGeom prst="rect">
            <a:avLst/>
          </a:prstGeom>
          <a:noFill/>
        </p:spPr>
        <p:txBody>
          <a:bodyPr wrap="square" rtlCol="0">
            <a:spAutoFit/>
          </a:bodyPr>
          <a:p>
            <a:r>
              <a:rPr lang="zh-CN" altLang="en-US"/>
              <a:t>将</a:t>
            </a:r>
            <a:r>
              <a:rPr lang="en-US" altLang="zh-CN"/>
              <a:t>Debug_Await</a:t>
            </a:r>
            <a:r>
              <a:rPr lang="zh-CN" altLang="en-US"/>
              <a:t>替换为延时函数，</a:t>
            </a:r>
            <a:r>
              <a:rPr lang="en-US" altLang="zh-CN"/>
              <a:t>My</a:t>
            </a:r>
            <a:r>
              <a:rPr lang="en-US" altLang="zh-CN"/>
              <a:t>_mDelay(1000),</a:t>
            </a:r>
            <a:r>
              <a:rPr lang="zh-CN" altLang="en-US"/>
              <a:t>实现机械臂连续动作</a:t>
            </a:r>
            <a:endParaRPr lang="zh-CN" altLang="en-US"/>
          </a:p>
        </p:txBody>
      </p:sp>
      <p:pic>
        <p:nvPicPr>
          <p:cNvPr id="2" name="图片 1"/>
          <p:cNvPicPr>
            <a:picLocks noChangeAspect="1"/>
          </p:cNvPicPr>
          <p:nvPr/>
        </p:nvPicPr>
        <p:blipFill>
          <a:blip r:embed="rId1"/>
          <a:stretch>
            <a:fillRect/>
          </a:stretch>
        </p:blipFill>
        <p:spPr>
          <a:xfrm>
            <a:off x="1057275" y="2732405"/>
            <a:ext cx="5038725" cy="3124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787650" y="1118870"/>
            <a:ext cx="6616065" cy="2409825"/>
          </a:xfrm>
          <a:prstGeom prst="rect">
            <a:avLst/>
          </a:prstGeom>
          <a:noFill/>
        </p:spPr>
        <p:txBody>
          <a:bodyPr wrap="square" rtlCol="0">
            <a:noAutofit/>
          </a:bodyPr>
          <a:p>
            <a:pPr indent="457200"/>
            <a:r>
              <a:rPr lang="zh-CN" altLang="en-US" sz="3200"/>
              <a:t>完成前面的基本动作，可在</a:t>
            </a:r>
            <a:r>
              <a:rPr lang="en-US" altLang="zh-CN" sz="3200"/>
              <a:t>Run_6</a:t>
            </a:r>
            <a:r>
              <a:rPr lang="zh-CN" altLang="en-US" sz="3200"/>
              <a:t>写入将物料放入料仓中的动作</a:t>
            </a:r>
            <a:endParaRPr lang="zh-CN" altLang="en-US" sz="3200"/>
          </a:p>
          <a:p>
            <a:pPr indent="457200"/>
            <a:endParaRPr lang="zh-CN" altLang="en-US" sz="3200"/>
          </a:p>
        </p:txBody>
      </p:sp>
      <p:sp>
        <p:nvSpPr>
          <p:cNvPr id="6" name="文本框 5"/>
          <p:cNvSpPr txBox="1"/>
          <p:nvPr/>
        </p:nvSpPr>
        <p:spPr>
          <a:xfrm>
            <a:off x="7226300" y="3444875"/>
            <a:ext cx="3765550" cy="922020"/>
          </a:xfrm>
          <a:prstGeom prst="rect">
            <a:avLst/>
          </a:prstGeom>
          <a:noFill/>
        </p:spPr>
        <p:txBody>
          <a:bodyPr wrap="square" rtlCol="0">
            <a:spAutoFit/>
          </a:bodyPr>
          <a:p>
            <a:r>
              <a:rPr lang="zh-CN" altLang="en-US"/>
              <a:t>将</a:t>
            </a:r>
            <a:r>
              <a:rPr lang="en-US" altLang="zh-CN"/>
              <a:t>Debug_Await</a:t>
            </a:r>
            <a:r>
              <a:rPr lang="zh-CN" altLang="en-US"/>
              <a:t>替换为延时函数，</a:t>
            </a:r>
            <a:r>
              <a:rPr lang="en-US" altLang="zh-CN"/>
              <a:t>My</a:t>
            </a:r>
            <a:r>
              <a:rPr lang="en-US" altLang="zh-CN"/>
              <a:t>_mDelay(1000),</a:t>
            </a:r>
            <a:r>
              <a:rPr lang="zh-CN" altLang="en-US"/>
              <a:t>实现机械臂连续动作</a:t>
            </a:r>
            <a:endParaRPr lang="zh-CN" altLang="en-US"/>
          </a:p>
        </p:txBody>
      </p:sp>
      <p:pic>
        <p:nvPicPr>
          <p:cNvPr id="2" name="图片 1"/>
          <p:cNvPicPr>
            <a:picLocks noChangeAspect="1"/>
          </p:cNvPicPr>
          <p:nvPr/>
        </p:nvPicPr>
        <p:blipFill>
          <a:blip r:embed="rId1"/>
          <a:stretch>
            <a:fillRect/>
          </a:stretch>
        </p:blipFill>
        <p:spPr>
          <a:xfrm>
            <a:off x="1057275" y="2732405"/>
            <a:ext cx="5038725" cy="31242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334135" y="1137285"/>
            <a:ext cx="8940800" cy="3027680"/>
          </a:xfrm>
          <a:prstGeom prst="rect">
            <a:avLst/>
          </a:prstGeom>
          <a:noFill/>
        </p:spPr>
        <p:txBody>
          <a:bodyPr wrap="square" rtlCol="0">
            <a:noAutofit/>
          </a:bodyPr>
          <a:p>
            <a:pPr indent="457200"/>
            <a:r>
              <a:rPr lang="zh-CN" altLang="en-US" sz="3200">
                <a:solidFill>
                  <a:srgbClr val="FF0000"/>
                </a:solidFill>
              </a:rPr>
              <a:t>任务要求：</a:t>
            </a:r>
            <a:endParaRPr lang="zh-CN" altLang="en-US" sz="3200"/>
          </a:p>
          <a:p>
            <a:pPr indent="457200"/>
            <a:r>
              <a:rPr lang="en-US" altLang="zh-CN" sz="3200"/>
              <a:t>1.</a:t>
            </a:r>
            <a:r>
              <a:rPr lang="zh-CN" altLang="en-US" sz="3200"/>
              <a:t>完成前面的基本动作，可在</a:t>
            </a:r>
            <a:r>
              <a:rPr lang="en-US" altLang="zh-CN" sz="3200"/>
              <a:t>Run_6</a:t>
            </a:r>
            <a:r>
              <a:rPr lang="zh-CN" altLang="en-US" sz="3200"/>
              <a:t>继续编写具体的功能：</a:t>
            </a:r>
            <a:r>
              <a:rPr lang="zh-CN" altLang="en-US" sz="3200">
                <a:solidFill>
                  <a:srgbClr val="FF0000"/>
                </a:solidFill>
              </a:rPr>
              <a:t>将物料从桌面抓取，放置在料仓中，再将物料从料仓中取出放置到桌面动作。</a:t>
            </a:r>
            <a:endParaRPr lang="zh-CN" altLang="en-US" sz="3200"/>
          </a:p>
          <a:p>
            <a:pPr indent="457200"/>
            <a:endParaRPr lang="zh-CN" altLang="en-US" sz="3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PP_MARK_KEY" val="5a3e3d22-ded8-403f-b426-94cc7b0b2c16"/>
  <p:tag name="COMMONDATA" val="eyJjb3VudCI6NDMsImhkaWQiOiI0MmY2NDM2YzAyYzk2NzFlOTNhMDM0MzgwZDE3MzgyNSIsInVzZXJDb3VudCI6OH0="/>
  <p:tag name="commondata" val="eyJjb3VudCI6NDQsImhkaWQiOiI0MmY2NDM2YzAyYzk2NzFlOTNhMDM0MzgwZDE3MzgyNSIsInVzZXJDb3VudCI6OX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3066</Words>
  <Application>WPS 演示</Application>
  <PresentationFormat>宽屏</PresentationFormat>
  <Paragraphs>364</Paragraphs>
  <Slides>36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36</vt:i4>
      </vt:variant>
    </vt:vector>
  </HeadingPairs>
  <TitlesOfParts>
    <vt:vector size="49" baseType="lpstr">
      <vt:lpstr>Arial</vt:lpstr>
      <vt:lpstr>宋体</vt:lpstr>
      <vt:lpstr>Wingdings</vt:lpstr>
      <vt:lpstr>华文中宋</vt:lpstr>
      <vt:lpstr>汉仪雅酷黑 55W</vt:lpstr>
      <vt:lpstr>微软雅黑</vt:lpstr>
      <vt:lpstr>汉仪润圆-65简</vt:lpstr>
      <vt:lpstr>汉仪典雅体简</vt:lpstr>
      <vt:lpstr>Arial Unicode MS</vt:lpstr>
      <vt:lpstr>Calibri Light</vt:lpstr>
      <vt:lpstr>Calibri</vt:lpstr>
      <vt:lpstr>等线</vt:lpstr>
      <vt:lpstr>Office 主题</vt:lpstr>
      <vt:lpstr>PowerPoint 演示文稿</vt:lpstr>
      <vt:lpstr>PowerPoint 演示文稿</vt:lpstr>
      <vt:lpstr>PowerPoint 演示文稿</vt:lpstr>
      <vt:lpstr>舵机调试USB口，通过USB延长线与电脑连接</vt:lpstr>
      <vt:lpstr>	舵机调试板拨码开关右拨（串口才能够检测到）</vt:lpstr>
      <vt:lpstr>PowerPoint 演示文稿</vt:lpstr>
      <vt:lpstr>	每个舵机出厂的默认ID都是1，为了实现串联控制，在将每个舵机串联在一起前必须先将4个舵机的ID分别单独设置为1、2、3、4（在设置舵机ID时将他与默认的舵机断开连接）</vt:lpstr>
      <vt:lpstr>	舵机以下图顺序进行连接</vt:lpstr>
      <vt:lpstr>	按下开关，通过上位机进行舵机驱动板端口检测</vt:lpstr>
      <vt:lpstr>PowerPoint 演示文稿</vt:lpstr>
      <vt:lpstr>PowerPoint 演示文稿</vt:lpstr>
      <vt:lpstr>各功能按键的使用方法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尹 欢</dc:creator>
  <cp:lastModifiedBy>向日葵</cp:lastModifiedBy>
  <cp:revision>110</cp:revision>
  <dcterms:created xsi:type="dcterms:W3CDTF">2020-04-19T08:48:00Z</dcterms:created>
  <dcterms:modified xsi:type="dcterms:W3CDTF">2026-04-08T08:44:18Z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KSOTemplateUUID">
    <vt:lpwstr>v1.0_mb_DVyaBcp9DiSV//+fg7Cmpw==</vt:lpwstr>
  </property>
  <property fmtid="{D5CDD505-2E9C-101B-9397-08002B2CF9AE}" pid="4" name="ICV">
    <vt:lpwstr>1E3CB958E53D453D9077C818F56F0FFE_13</vt:lpwstr>
  </property>
</Properties>
</file>