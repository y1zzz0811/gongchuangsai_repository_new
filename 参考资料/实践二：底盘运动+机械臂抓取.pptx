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56" r:id="rId3"/>
    <p:sldId id="610" r:id="rId4"/>
    <p:sldId id="604" r:id="rId5"/>
    <p:sldId id="605" r:id="rId7"/>
    <p:sldId id="606" r:id="rId8"/>
    <p:sldId id="612" r:id="rId9"/>
    <p:sldId id="611" r:id="rId10"/>
    <p:sldId id="609" r:id="rId11"/>
    <p:sldId id="608" r:id="rId12"/>
    <p:sldId id="607" r:id="rId13"/>
  </p:sldIdLst>
  <p:sldSz cx="12192000" cy="6858000"/>
  <p:notesSz cx="6858000" cy="9144000"/>
  <p:embeddedFontLst>
    <p:embeddedFont>
      <p:font typeface="华文中宋" panose="02010600040101010101" charset="-122"/>
      <p:regular r:id="rId18"/>
    </p:embeddedFont>
    <p:embeddedFont>
      <p:font typeface="微软雅黑" panose="020B0503020204020204" charset="-122"/>
      <p:regular r:id="rId19"/>
    </p:embeddedFont>
    <p:embeddedFont>
      <p:font typeface="汉仪润圆-65简" panose="00020600040101010101" pitchFamily="18" charset="-122"/>
      <p:regular r:id="rId20"/>
    </p:embeddedFont>
    <p:embeddedFont>
      <p:font typeface="Calibri" panose="020F0502020204030204"/>
      <p:regular r:id="rId21"/>
      <p:bold r:id="rId22"/>
      <p:italic r:id="rId23"/>
      <p:boldItalic r:id="rId24"/>
    </p:embeddedFont>
    <p:embeddedFont>
      <p:font typeface="Calibri Light" panose="020F0302020204030204" charset="0"/>
      <p:regular r:id="rId25"/>
      <p:italic r:id="rId26"/>
    </p:embeddedFont>
  </p:embeddedFontLst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7" name="1206988966@qq.com" initials="1" lastIdx="1" clrIdx="2"/>
  <p:cmAuthor id="1" name="Wangzhi gang" initials="Wg" lastIdx="1" clrIdx="0"/>
  <p:cmAuthor id="8" name="姜伟光" initials="姜" lastIdx="1" clrIdx="0"/>
  <p:cmAuthor id="2" name="作者" initials="A" lastIdx="1" clrIdx="1"/>
  <p:cmAuthor id="3" name="lenovo" initials="l" lastIdx="6" clrIdx="2"/>
  <p:cmAuthor id="4" name="Administrator" initials="A" lastIdx="4" clrIdx="3"/>
  <p:cmAuthor id="5" name="宋洁然" initials="宋" lastIdx="2" clrIdx="1"/>
  <p:cmAuthor id="6" name="ming qiu" initials="m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DED"/>
    <a:srgbClr val="7D8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12.xml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3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4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11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图片 6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20" b="1233"/>
          <a:stretch>
            <a:fillRect/>
          </a:stretch>
        </p:blipFill>
        <p:spPr>
          <a:xfrm>
            <a:off x="251791" y="251792"/>
            <a:ext cx="11635407" cy="6374296"/>
          </a:xfrm>
          <a:custGeom>
            <a:avLst/>
            <a:gdLst>
              <a:gd name="connsiteX0" fmla="*/ 300931 w 11635407"/>
              <a:gd name="connsiteY0" fmla="*/ 0 h 6374296"/>
              <a:gd name="connsiteX1" fmla="*/ 11334478 w 11635407"/>
              <a:gd name="connsiteY1" fmla="*/ 0 h 6374296"/>
              <a:gd name="connsiteX2" fmla="*/ 11611760 w 11635407"/>
              <a:gd name="connsiteY2" fmla="*/ 183795 h 6374296"/>
              <a:gd name="connsiteX3" fmla="*/ 11635407 w 11635407"/>
              <a:gd name="connsiteY3" fmla="*/ 300922 h 6374296"/>
              <a:gd name="connsiteX4" fmla="*/ 11635407 w 11635407"/>
              <a:gd name="connsiteY4" fmla="*/ 6073375 h 6374296"/>
              <a:gd name="connsiteX5" fmla="*/ 11611760 w 11635407"/>
              <a:gd name="connsiteY5" fmla="*/ 6190501 h 6374296"/>
              <a:gd name="connsiteX6" fmla="*/ 11334478 w 11635407"/>
              <a:gd name="connsiteY6" fmla="*/ 6374296 h 6374296"/>
              <a:gd name="connsiteX7" fmla="*/ 300931 w 11635407"/>
              <a:gd name="connsiteY7" fmla="*/ 6374296 h 6374296"/>
              <a:gd name="connsiteX8" fmla="*/ 0 w 11635407"/>
              <a:gd name="connsiteY8" fmla="*/ 6073365 h 6374296"/>
              <a:gd name="connsiteX9" fmla="*/ 0 w 11635407"/>
              <a:gd name="connsiteY9" fmla="*/ 300931 h 6374296"/>
              <a:gd name="connsiteX10" fmla="*/ 300931 w 11635407"/>
              <a:gd name="connsiteY10" fmla="*/ 0 h 637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35407" h="6374296">
                <a:moveTo>
                  <a:pt x="300931" y="0"/>
                </a:moveTo>
                <a:lnTo>
                  <a:pt x="11334478" y="0"/>
                </a:lnTo>
                <a:cubicBezTo>
                  <a:pt x="11459128" y="0"/>
                  <a:pt x="11566077" y="75786"/>
                  <a:pt x="11611760" y="183795"/>
                </a:cubicBezTo>
                <a:lnTo>
                  <a:pt x="11635407" y="300922"/>
                </a:lnTo>
                <a:lnTo>
                  <a:pt x="11635407" y="6073375"/>
                </a:lnTo>
                <a:lnTo>
                  <a:pt x="11611760" y="6190501"/>
                </a:lnTo>
                <a:cubicBezTo>
                  <a:pt x="11566077" y="6298510"/>
                  <a:pt x="11459128" y="6374296"/>
                  <a:pt x="11334478" y="6374296"/>
                </a:cubicBezTo>
                <a:lnTo>
                  <a:pt x="300931" y="6374296"/>
                </a:lnTo>
                <a:cubicBezTo>
                  <a:pt x="134731" y="6374296"/>
                  <a:pt x="0" y="6239565"/>
                  <a:pt x="0" y="6073365"/>
                </a:cubicBezTo>
                <a:lnTo>
                  <a:pt x="0" y="300931"/>
                </a:lnTo>
                <a:cubicBezTo>
                  <a:pt x="0" y="134731"/>
                  <a:pt x="134731" y="0"/>
                  <a:pt x="300931" y="0"/>
                </a:cubicBezTo>
                <a:close/>
              </a:path>
            </a:pathLst>
          </a:custGeom>
        </p:spPr>
      </p:pic>
      <p:sp>
        <p:nvSpPr>
          <p:cNvPr id="67" name="圆角矩形 66"/>
          <p:cNvSpPr/>
          <p:nvPr/>
        </p:nvSpPr>
        <p:spPr>
          <a:xfrm>
            <a:off x="268252" y="240561"/>
            <a:ext cx="11656411" cy="6385802"/>
          </a:xfrm>
          <a:prstGeom prst="roundRect">
            <a:avLst>
              <a:gd name="adj" fmla="val 4721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90000"/>
              </a:lnSpc>
            </a:pPr>
            <a:r>
              <a:rPr lang="zh-CN" altLang="en-US" sz="8000" b="1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智能物流搬运机器人</a:t>
            </a:r>
            <a:r>
              <a:rPr lang="zh-CN" altLang="en-US" sz="8000" b="1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应用</a:t>
            </a:r>
            <a:endParaRPr lang="zh-CN" altLang="en-US" sz="8000" b="1" dirty="0">
              <a:solidFill>
                <a:schemeClr val="bg2">
                  <a:lumMod val="10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algn="ctr" eaLnBrk="0" hangingPunct="0">
              <a:lnSpc>
                <a:spcPct val="90000"/>
              </a:lnSpc>
            </a:pPr>
            <a:r>
              <a:rPr lang="en-US" altLang="zh-CN" sz="80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        </a:t>
            </a:r>
            <a:endParaRPr lang="en-US" altLang="zh-CN" sz="8000" dirty="0">
              <a:solidFill>
                <a:schemeClr val="bg2">
                  <a:lumMod val="10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algn="ctr" eaLnBrk="0" hangingPunct="0">
              <a:lnSpc>
                <a:spcPct val="90000"/>
              </a:lnSpc>
            </a:pPr>
            <a:r>
              <a:rPr lang="en-US" altLang="zh-CN" sz="80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—</a:t>
            </a:r>
            <a:r>
              <a:rPr lang="zh-CN" altLang="en-US" sz="80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底盘运动</a:t>
            </a:r>
            <a:r>
              <a:rPr lang="en-US" altLang="zh-CN" sz="80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+</a:t>
            </a:r>
            <a:r>
              <a:rPr lang="zh-CN" altLang="en-US" sz="80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机械臂</a:t>
            </a:r>
            <a:endParaRPr lang="zh-CN" altLang="en-US" sz="8000" dirty="0">
              <a:solidFill>
                <a:schemeClr val="bg2">
                  <a:lumMod val="10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67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圆角矩形 45"/>
          <p:cNvSpPr/>
          <p:nvPr/>
        </p:nvSpPr>
        <p:spPr>
          <a:xfrm>
            <a:off x="251791" y="251792"/>
            <a:ext cx="11635409" cy="6374296"/>
          </a:xfrm>
          <a:prstGeom prst="roundRect">
            <a:avLst>
              <a:gd name="adj" fmla="val 4721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91338" y="1510748"/>
            <a:ext cx="7209183" cy="36045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822" y="1860822"/>
            <a:ext cx="4136335" cy="275755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389822" y="1860822"/>
            <a:ext cx="4136335" cy="2757557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397506" y="2854879"/>
            <a:ext cx="35356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4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底盘控制部分</a:t>
            </a:r>
            <a:endParaRPr lang="zh-CN" altLang="en-US" sz="4400" dirty="0">
              <a:latin typeface="汉仪雅酷黑 55W" panose="020B0504020202020204" pitchFamily="34" charset="-122"/>
              <a:ea typeface="汉仪雅酷黑 55W" panose="020B0504020202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035343" y="2685601"/>
            <a:ext cx="127254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dirty="0" smtClean="0">
                <a:solidFill>
                  <a:schemeClr val="bg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01</a:t>
            </a:r>
            <a:endParaRPr lang="zh-CN" altLang="en-US" sz="6600" dirty="0">
              <a:solidFill>
                <a:schemeClr val="bg1"/>
              </a:solidFill>
              <a:latin typeface="汉仪润圆-65简" panose="00020600040101010101" pitchFamily="18" charset="-122"/>
              <a:ea typeface="汉仪润圆-65简" panose="00020600040101010101" pitchFamily="18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5400000">
            <a:off x="5639013" y="3065621"/>
            <a:ext cx="474818" cy="386566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1810" y="732790"/>
            <a:ext cx="7429500" cy="5562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34720" y="465455"/>
            <a:ext cx="7014845" cy="11988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</a:rPr>
              <a:t>通过修改坐标点参数控制底盘运动，坐标系</a:t>
            </a:r>
            <a:r>
              <a:rPr lang="en-US" altLang="zh-CN" sz="2400">
                <a:solidFill>
                  <a:schemeClr val="tx1"/>
                </a:solidFill>
                <a:latin typeface="Calibri" panose="020F0502020204030204"/>
                <a:ea typeface="Calibri" panose="020F0502020204030204"/>
              </a:rPr>
              <a:t>xy</a:t>
            </a:r>
            <a:r>
              <a:rPr lang="zh-CN" altLang="en-US" sz="240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</a:rPr>
              <a:t>的方向不随底盘旋转而改变。坐标系方向取决于小车开机摆放的朝向</a:t>
            </a:r>
            <a:endParaRPr lang="zh-CN" altLang="en-US" sz="2400">
              <a:solidFill>
                <a:schemeClr val="tx1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3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720" y="2086610"/>
            <a:ext cx="9711055" cy="33585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781050" y="5791200"/>
            <a:ext cx="10058400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800">
                <a:latin typeface="Calibri" panose="020F0502020204030204"/>
                <a:ea typeface="宋体" panose="02010600030101010101" pitchFamily="2" charset="-122"/>
              </a:rPr>
              <a:t>通过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ChassisCoord_Set();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函数控制小车底盘进行坐标点运动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80820" y="1062355"/>
            <a:ext cx="7014845" cy="11988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</a:rPr>
              <a:t>底盘运动到坐标点需进行等待，函数用于检测底盘是否运动到了目标点，每跑一个坐标点后需要加等待函数。</a:t>
            </a:r>
            <a:endParaRPr lang="zh-CN" altLang="en-US" sz="2400">
              <a:solidFill>
                <a:schemeClr val="tx1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1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8580" y="2286000"/>
            <a:ext cx="14359255" cy="11430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1810" y="732790"/>
            <a:ext cx="7429500" cy="5562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圆角矩形 45"/>
          <p:cNvSpPr/>
          <p:nvPr/>
        </p:nvSpPr>
        <p:spPr>
          <a:xfrm>
            <a:off x="251791" y="251792"/>
            <a:ext cx="11635409" cy="6374296"/>
          </a:xfrm>
          <a:prstGeom prst="roundRect">
            <a:avLst>
              <a:gd name="adj" fmla="val 4721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91338" y="1510748"/>
            <a:ext cx="7209183" cy="36045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822" y="1860822"/>
            <a:ext cx="4136335" cy="275755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389822" y="1860822"/>
            <a:ext cx="4136335" cy="2757557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397506" y="2854879"/>
            <a:ext cx="29768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4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机械臂抓取</a:t>
            </a:r>
            <a:endParaRPr lang="zh-CN" altLang="en-US" sz="4400" dirty="0">
              <a:latin typeface="汉仪雅酷黑 55W" panose="020B0504020202020204" pitchFamily="34" charset="-122"/>
              <a:ea typeface="汉仪雅酷黑 55W" panose="020B0504020202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035343" y="2685601"/>
            <a:ext cx="127254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dirty="0" smtClean="0">
                <a:solidFill>
                  <a:schemeClr val="bg1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02</a:t>
            </a:r>
            <a:endParaRPr lang="zh-CN" altLang="en-US" sz="6600" dirty="0">
              <a:solidFill>
                <a:schemeClr val="bg1"/>
              </a:solidFill>
              <a:latin typeface="汉仪润圆-65简" panose="00020600040101010101" pitchFamily="18" charset="-122"/>
              <a:ea typeface="汉仪润圆-65简" panose="00020600040101010101" pitchFamily="18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5400000">
            <a:off x="5639013" y="3065621"/>
            <a:ext cx="474818" cy="386566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446405" y="2506345"/>
            <a:ext cx="3658870" cy="812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800" b="1"/>
              <a:t>Run_1</a:t>
            </a:r>
            <a:endParaRPr lang="zh-CN" altLang="en-US" sz="4800" b="1"/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4864100" y="2526030"/>
            <a:ext cx="33274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 b="1"/>
              <a:t>Run_2</a:t>
            </a:r>
            <a:endParaRPr lang="zh-CN" altLang="en-US" sz="4800" b="1"/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8864600" y="2488565"/>
            <a:ext cx="33274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 b="1"/>
              <a:t>Run_3</a:t>
            </a:r>
            <a:endParaRPr lang="zh-CN" altLang="en-US" sz="4800" b="1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417830" y="5853430"/>
            <a:ext cx="33274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 b="1"/>
              <a:t>Run_4</a:t>
            </a:r>
            <a:endParaRPr lang="zh-CN" altLang="en-US" sz="4800" b="1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4864100" y="5771515"/>
            <a:ext cx="33274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 b="1"/>
              <a:t>Run_5</a:t>
            </a:r>
            <a:endParaRPr lang="zh-CN" altLang="en-US" sz="4800" b="1"/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8864600" y="3884930"/>
            <a:ext cx="33274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5</a:t>
            </a:r>
            <a:r>
              <a:rPr lang="zh-CN" altLang="en-US" sz="3200" b="1"/>
              <a:t>个抓取动作的编写，执行</a:t>
            </a:r>
            <a:endParaRPr lang="zh-CN" altLang="en-US" sz="3200" b="1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400" y="278130"/>
            <a:ext cx="3465830" cy="23533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9570" y="271780"/>
            <a:ext cx="3832225" cy="239839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86090" y="271780"/>
            <a:ext cx="4217670" cy="239839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400" y="3355975"/>
            <a:ext cx="3465830" cy="262699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5180" y="3318510"/>
            <a:ext cx="2961640" cy="26758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765" y="908050"/>
            <a:ext cx="7212330" cy="52260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95970" y="2670810"/>
            <a:ext cx="24942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机械臂抓取动作组执行</a:t>
            </a:r>
            <a:endParaRPr lang="zh-CN" altLang="en-US" sz="3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642100" y="1219200"/>
            <a:ext cx="509270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solidFill>
                  <a:srgbClr val="FF0000"/>
                </a:solidFill>
              </a:rPr>
              <a:t>任务要求：</a:t>
            </a:r>
            <a:endParaRPr lang="zh-CN" altLang="en-US" sz="4000">
              <a:solidFill>
                <a:srgbClr val="FF0000"/>
              </a:solidFill>
            </a:endParaRPr>
          </a:p>
          <a:p>
            <a:endParaRPr lang="zh-CN" altLang="en-US" sz="4000">
              <a:solidFill>
                <a:srgbClr val="FF0000"/>
              </a:solidFill>
            </a:endParaRPr>
          </a:p>
          <a:p>
            <a:pPr indent="457200"/>
            <a:r>
              <a:rPr lang="zh-CN" altLang="en-US" sz="2400"/>
              <a:t>由出发区出发，根据地图箭头方向，移动到转盘位置，抓取</a:t>
            </a:r>
            <a:r>
              <a:rPr lang="en-US" altLang="zh-CN" sz="2400"/>
              <a:t>1</a:t>
            </a:r>
            <a:r>
              <a:rPr lang="zh-CN" altLang="en-US" sz="2400"/>
              <a:t>个物料，将转运到实验二存放区，放置在存放区黄色区域内，最后车身返回蓝色出发区</a:t>
            </a:r>
            <a:endParaRPr lang="en-US" altLang="zh-CN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420" y="171450"/>
            <a:ext cx="6540500" cy="66871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SLIDE_ID" val="diagram20233253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1"/>
  <p:tag name="KSO_WM_SLIDE_SIZE" val="850.45*382.409"/>
  <p:tag name="KSO_WM_SLIDE_POSITION" val="54.75*116.225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3253"/>
  <p:tag name="KSO_WM_SLIDE_LAYOUT" val="a_l"/>
  <p:tag name="KSO_WM_SLIDE_LAYOUT_CNT" val="1_1"/>
  <p:tag name="KSO_WM_SPECIAL_SOURCE" val="bdnull"/>
</p:tagLst>
</file>

<file path=ppt/tags/tag2.xml><?xml version="1.0" encoding="utf-8"?>
<p:tagLst xmlns:p="http://schemas.openxmlformats.org/presentationml/2006/main">
  <p:tag name="KSO_WM_SLIDE_ID" val="diagram20233253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1"/>
  <p:tag name="KSO_WM_SLIDE_SIZE" val="850.45*382.409"/>
  <p:tag name="KSO_WM_SLIDE_POSITION" val="54.75*116.225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3253"/>
  <p:tag name="KSO_WM_SLIDE_LAYOUT" val="a_l"/>
  <p:tag name="KSO_WM_SLIDE_LAYOUT_CNT" val="1_1"/>
  <p:tag name="KSO_WM_SPECIAL_SOURCE" val="bdnull"/>
</p:tagLst>
</file>

<file path=ppt/tags/tag3.xml><?xml version="1.0" encoding="utf-8"?>
<p:tagLst xmlns:p="http://schemas.openxmlformats.org/presentationml/2006/main">
  <p:tag name="KSO_WM_SLIDE_ID" val="diagram20233253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1"/>
  <p:tag name="KSO_WM_SLIDE_SIZE" val="850.45*382.409"/>
  <p:tag name="KSO_WM_SLIDE_POSITION" val="54.75*116.225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3253"/>
  <p:tag name="KSO_WM_SLIDE_LAYOUT" val="a_l"/>
  <p:tag name="KSO_WM_SLIDE_LAYOUT_CNT" val="1_1"/>
  <p:tag name="KSO_WM_SPECIAL_SOURCE" val="bdnull"/>
</p:tagLst>
</file>

<file path=ppt/tags/tag4.xml><?xml version="1.0" encoding="utf-8"?>
<p:tagLst xmlns:p="http://schemas.openxmlformats.org/presentationml/2006/main">
  <p:tag name="KSO_WM_SLIDE_ID" val="diagram20233253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1"/>
  <p:tag name="KSO_WM_SLIDE_SIZE" val="850.45*382.409"/>
  <p:tag name="KSO_WM_SLIDE_POSITION" val="54.75*116.225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3253"/>
  <p:tag name="KSO_WM_SLIDE_LAYOUT" val="a_l"/>
  <p:tag name="KSO_WM_SLIDE_LAYOUT_CNT" val="1_1"/>
  <p:tag name="KSO_WM_SPECIAL_SOURCE" val="bdnull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SLIDE_ID" val="diagram20233253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1"/>
  <p:tag name="KSO_WM_SLIDE_SIZE" val="850.45*382.409"/>
  <p:tag name="KSO_WM_SLIDE_POSITION" val="54.75*116.225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3253"/>
  <p:tag name="KSO_WM_SLIDE_LAYOUT" val="a_l"/>
  <p:tag name="KSO_WM_SLIDE_LAYOUT_CNT" val="1_1"/>
  <p:tag name="KSO_WM_SPECIAL_SOURCE" val="bdnull"/>
</p:tagLst>
</file>

<file path=ppt/tags/tag12.xml><?xml version="1.0" encoding="utf-8"?>
<p:tagLst xmlns:p="http://schemas.openxmlformats.org/presentationml/2006/main">
  <p:tag name="KSO_WPP_MARK_KEY" val="5a3e3d22-ded8-403f-b426-94cc7b0b2c16"/>
  <p:tag name="COMMONDATA" val="eyJjb3VudCI6NDMsImhkaWQiOiI0MmY2NDM2YzAyYzk2NzFlOTNhMDM0MzgwZDE3MzgyNSIsInVzZXJDb3VudCI6OH0="/>
  <p:tag name="commondata" val="eyJjb3VudCI6NDQsImhkaWQiOiI0MmY2NDM2YzAyYzk2NzFlOTNhMDM0MzgwZDE3MzgyNSIsInVzZXJDb3VudCI6OX0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</Words>
  <Application>WPS 演示</Application>
  <PresentationFormat>宽屏</PresentationFormat>
  <Paragraphs>36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华文中宋</vt:lpstr>
      <vt:lpstr>微软雅黑</vt:lpstr>
      <vt:lpstr>汉仪雅酷黑 55W</vt:lpstr>
      <vt:lpstr>黑体</vt:lpstr>
      <vt:lpstr>汉仪润圆-65简</vt:lpstr>
      <vt:lpstr>Calibri</vt:lpstr>
      <vt:lpstr>Arial Unicode MS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尹 欢</dc:creator>
  <cp:lastModifiedBy>向日葵</cp:lastModifiedBy>
  <cp:revision>102</cp:revision>
  <dcterms:created xsi:type="dcterms:W3CDTF">2020-04-19T08:48:00Z</dcterms:created>
  <dcterms:modified xsi:type="dcterms:W3CDTF">2026-04-08T08:48:49Z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KSOTemplateUUID">
    <vt:lpwstr>v1.0_mb_DVyaBcp9DiSV//+fg7Cmpw==</vt:lpwstr>
  </property>
  <property fmtid="{D5CDD505-2E9C-101B-9397-08002B2CF9AE}" pid="4" name="ICV">
    <vt:lpwstr>1E3CB958E53D453D9077C818F56F0FFE_13</vt:lpwstr>
  </property>
</Properties>
</file>