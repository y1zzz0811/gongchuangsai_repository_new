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3"/>
    <p:sldId id="671" r:id="rId4"/>
    <p:sldId id="683" r:id="rId5"/>
    <p:sldId id="672" r:id="rId6"/>
    <p:sldId id="674" r:id="rId7"/>
    <p:sldId id="675" r:id="rId8"/>
    <p:sldId id="677" r:id="rId9"/>
    <p:sldId id="676" r:id="rId10"/>
    <p:sldId id="678" r:id="rId11"/>
    <p:sldId id="679" r:id="rId12"/>
    <p:sldId id="680" r:id="rId13"/>
    <p:sldId id="682" r:id="rId14"/>
  </p:sldIdLst>
  <p:sldSz cx="12192000" cy="6858000"/>
  <p:notesSz cx="6858000" cy="9144000"/>
  <p:embeddedFontLst>
    <p:embeddedFont>
      <p:font typeface="华文中宋" panose="02010600040101010101" charset="-122"/>
      <p:regular r:id="rId19"/>
    </p:embeddedFont>
    <p:embeddedFont>
      <p:font typeface="Calibri Light" panose="020F0302020204030204" charset="0"/>
      <p:regular r:id="rId20"/>
      <p:italic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  <a:srgbClr val="7D8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2.xml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46131-62CC-4AFB-8743-6014F2A478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CE44A-2334-4B32-8FFF-46C9CBCA161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图片 6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0" b="1233"/>
          <a:stretch>
            <a:fillRect/>
          </a:stretch>
        </p:blipFill>
        <p:spPr>
          <a:xfrm>
            <a:off x="251791" y="251792"/>
            <a:ext cx="11635407" cy="6374296"/>
          </a:xfrm>
          <a:custGeom>
            <a:avLst/>
            <a:gdLst>
              <a:gd name="connsiteX0" fmla="*/ 300931 w 11635407"/>
              <a:gd name="connsiteY0" fmla="*/ 0 h 6374296"/>
              <a:gd name="connsiteX1" fmla="*/ 11334478 w 11635407"/>
              <a:gd name="connsiteY1" fmla="*/ 0 h 6374296"/>
              <a:gd name="connsiteX2" fmla="*/ 11611760 w 11635407"/>
              <a:gd name="connsiteY2" fmla="*/ 183795 h 6374296"/>
              <a:gd name="connsiteX3" fmla="*/ 11635407 w 11635407"/>
              <a:gd name="connsiteY3" fmla="*/ 300922 h 6374296"/>
              <a:gd name="connsiteX4" fmla="*/ 11635407 w 11635407"/>
              <a:gd name="connsiteY4" fmla="*/ 6073375 h 6374296"/>
              <a:gd name="connsiteX5" fmla="*/ 11611760 w 11635407"/>
              <a:gd name="connsiteY5" fmla="*/ 6190501 h 6374296"/>
              <a:gd name="connsiteX6" fmla="*/ 11334478 w 11635407"/>
              <a:gd name="connsiteY6" fmla="*/ 6374296 h 6374296"/>
              <a:gd name="connsiteX7" fmla="*/ 300931 w 11635407"/>
              <a:gd name="connsiteY7" fmla="*/ 6374296 h 6374296"/>
              <a:gd name="connsiteX8" fmla="*/ 0 w 11635407"/>
              <a:gd name="connsiteY8" fmla="*/ 6073365 h 6374296"/>
              <a:gd name="connsiteX9" fmla="*/ 0 w 11635407"/>
              <a:gd name="connsiteY9" fmla="*/ 300931 h 6374296"/>
              <a:gd name="connsiteX10" fmla="*/ 300931 w 11635407"/>
              <a:gd name="connsiteY10" fmla="*/ 0 h 637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35407" h="6374296">
                <a:moveTo>
                  <a:pt x="300931" y="0"/>
                </a:moveTo>
                <a:lnTo>
                  <a:pt x="11334478" y="0"/>
                </a:lnTo>
                <a:cubicBezTo>
                  <a:pt x="11459128" y="0"/>
                  <a:pt x="11566077" y="75786"/>
                  <a:pt x="11611760" y="183795"/>
                </a:cubicBezTo>
                <a:lnTo>
                  <a:pt x="11635407" y="300922"/>
                </a:lnTo>
                <a:lnTo>
                  <a:pt x="11635407" y="6073375"/>
                </a:lnTo>
                <a:lnTo>
                  <a:pt x="11611760" y="6190501"/>
                </a:lnTo>
                <a:cubicBezTo>
                  <a:pt x="11566077" y="6298510"/>
                  <a:pt x="11459128" y="6374296"/>
                  <a:pt x="11334478" y="6374296"/>
                </a:cubicBezTo>
                <a:lnTo>
                  <a:pt x="300931" y="6374296"/>
                </a:lnTo>
                <a:cubicBezTo>
                  <a:pt x="134731" y="6374296"/>
                  <a:pt x="0" y="6239565"/>
                  <a:pt x="0" y="6073365"/>
                </a:cubicBezTo>
                <a:lnTo>
                  <a:pt x="0" y="300931"/>
                </a:lnTo>
                <a:cubicBezTo>
                  <a:pt x="0" y="134731"/>
                  <a:pt x="134731" y="0"/>
                  <a:pt x="300931" y="0"/>
                </a:cubicBezTo>
                <a:close/>
              </a:path>
            </a:pathLst>
          </a:custGeom>
        </p:spPr>
      </p:pic>
      <p:sp>
        <p:nvSpPr>
          <p:cNvPr id="67" name="圆角矩形 66"/>
          <p:cNvSpPr/>
          <p:nvPr/>
        </p:nvSpPr>
        <p:spPr>
          <a:xfrm>
            <a:off x="268252" y="240561"/>
            <a:ext cx="11656411" cy="6385802"/>
          </a:xfrm>
          <a:prstGeom prst="roundRect">
            <a:avLst>
              <a:gd name="adj" fmla="val 4721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8000" b="1" dirty="0">
                <a:solidFill>
                  <a:schemeClr val="bg2">
                    <a:lumMod val="1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物料放置实践</a:t>
            </a:r>
            <a:endParaRPr lang="zh-CN" altLang="en-US" sz="8000" b="1" dirty="0">
              <a:solidFill>
                <a:schemeClr val="bg2">
                  <a:lumMod val="1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67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3920" y="3638550"/>
            <a:ext cx="5488940" cy="23526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904230" y="437515"/>
            <a:ext cx="6096000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000">
                <a:solidFill>
                  <a:srgbClr val="FF0000"/>
                </a:solidFill>
                <a:sym typeface="+mn-ea"/>
              </a:rPr>
              <a:t>任务要求：</a:t>
            </a:r>
            <a:endParaRPr lang="zh-CN" altLang="en-US" sz="4000">
              <a:solidFill>
                <a:srgbClr val="FF0000"/>
              </a:solidFill>
            </a:endParaRPr>
          </a:p>
          <a:p>
            <a:endParaRPr lang="zh-CN" altLang="en-US" sz="4000">
              <a:solidFill>
                <a:srgbClr val="FF0000"/>
              </a:solidFill>
            </a:endParaRPr>
          </a:p>
          <a:p>
            <a:pPr indent="457200"/>
            <a:r>
              <a:rPr lang="zh-CN" altLang="en-US" sz="2400">
                <a:sym typeface="+mn-ea"/>
              </a:rPr>
              <a:t>由出发区出发，移动到转盘位置，抓取</a:t>
            </a:r>
            <a:r>
              <a:rPr lang="en-US" altLang="zh-CN" sz="2400">
                <a:sym typeface="+mn-ea"/>
              </a:rPr>
              <a:t>3</a:t>
            </a:r>
            <a:r>
              <a:rPr lang="zh-CN" altLang="en-US" sz="2400">
                <a:sym typeface="+mn-ea"/>
              </a:rPr>
              <a:t>个物料，将转运到粗加工区，放置在对应色环内，再将物料按放置顺序取回，最后车身返回蓝色出发区</a:t>
            </a:r>
            <a:endParaRPr lang="zh-CN" altLang="en-US" sz="24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20" y="536575"/>
            <a:ext cx="5626100" cy="5695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3920" y="3638550"/>
            <a:ext cx="5488940" cy="23526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904230" y="437515"/>
            <a:ext cx="6096000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000">
                <a:solidFill>
                  <a:srgbClr val="FF0000"/>
                </a:solidFill>
                <a:sym typeface="+mn-ea"/>
              </a:rPr>
              <a:t>任务要求：</a:t>
            </a:r>
            <a:endParaRPr lang="zh-CN" altLang="en-US" sz="4000">
              <a:solidFill>
                <a:srgbClr val="FF0000"/>
              </a:solidFill>
            </a:endParaRPr>
          </a:p>
          <a:p>
            <a:endParaRPr lang="zh-CN" altLang="en-US" sz="4000">
              <a:solidFill>
                <a:srgbClr val="FF0000"/>
              </a:solidFill>
            </a:endParaRPr>
          </a:p>
          <a:p>
            <a:pPr indent="457200"/>
            <a:r>
              <a:rPr lang="zh-CN" sz="2400">
                <a:sym typeface="+mn-ea"/>
              </a:rPr>
              <a:t>将车放置在图中框选的粗加工区，绿色色环前方的灰色行车道位置，开机，执行视觉纠正车身位置，机械臂将车身物料放置到色环，并抓回。</a:t>
            </a:r>
            <a:endParaRPr lang="zh-CN" sz="2400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680"/>
            <a:ext cx="5740400" cy="6050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45" y="1214755"/>
            <a:ext cx="8778240" cy="37496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65455" y="1379855"/>
            <a:ext cx="5219700" cy="281749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" y="5076825"/>
            <a:ext cx="4940300" cy="13208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768350" y="316865"/>
            <a:ext cx="2169160" cy="562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sym typeface="+mn-ea"/>
              </a:rPr>
              <a:t>代码解析</a:t>
            </a:r>
            <a:endParaRPr lang="zh-CN" altLang="en-US" sz="3600" b="1"/>
          </a:p>
        </p:txBody>
      </p:sp>
      <p:sp>
        <p:nvSpPr>
          <p:cNvPr id="5" name="文本框 4"/>
          <p:cNvSpPr txBox="1"/>
          <p:nvPr/>
        </p:nvSpPr>
        <p:spPr>
          <a:xfrm>
            <a:off x="8575040" y="1697990"/>
            <a:ext cx="406400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主函数部分，为主要执行的内容，</a:t>
            </a:r>
            <a:endParaRPr lang="zh-CN" altLang="en-US"/>
          </a:p>
          <a:p>
            <a:r>
              <a:rPr lang="en-US" altLang="zh-CN"/>
              <a:t>693</a:t>
            </a:r>
            <a:r>
              <a:rPr lang="zh-CN" altLang="en-US"/>
              <a:t>行开始往下执行代码，</a:t>
            </a:r>
            <a:endParaRPr lang="zh-CN" altLang="en-US"/>
          </a:p>
          <a:p>
            <a:r>
              <a:rPr lang="en-US" altLang="zh-CN"/>
              <a:t>693</a:t>
            </a:r>
            <a:r>
              <a:rPr lang="zh-CN" altLang="en-US"/>
              <a:t>代表停止视觉模块的所有任务</a:t>
            </a:r>
            <a:endParaRPr lang="zh-CN" altLang="en-US"/>
          </a:p>
          <a:p>
            <a:r>
              <a:rPr lang="en-US" altLang="zh-CN"/>
              <a:t>694</a:t>
            </a:r>
            <a:r>
              <a:rPr lang="zh-CN" altLang="en-US"/>
              <a:t>舵机初始动作</a:t>
            </a:r>
            <a:endParaRPr lang="zh-CN" altLang="en-US"/>
          </a:p>
          <a:p>
            <a:r>
              <a:rPr lang="en-US" altLang="zh-CN"/>
              <a:t>695</a:t>
            </a:r>
            <a:r>
              <a:rPr lang="zh-CN" altLang="en-US"/>
              <a:t>底盘设置为坐标模式控制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699</a:t>
            </a:r>
            <a:r>
              <a:rPr lang="zh-CN" altLang="en-US"/>
              <a:t>通过按键按下程序才能够</a:t>
            </a:r>
            <a:endParaRPr lang="zh-CN" altLang="en-US"/>
          </a:p>
          <a:p>
            <a:r>
              <a:rPr lang="zh-CN" altLang="en-US"/>
              <a:t>继续往下执行，相当于启动按键。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703</a:t>
            </a:r>
            <a:r>
              <a:rPr lang="zh-CN" altLang="en-US"/>
              <a:t>为机械臂识别绿色圆环的动作组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9920" y="231140"/>
            <a:ext cx="8778240" cy="37496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657475" y="2294890"/>
            <a:ext cx="4664075" cy="21209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077085" y="42754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执行圆心识别并纠正底盘位置函数（</a:t>
            </a:r>
            <a:r>
              <a:rPr lang="en-US" altLang="zh-CN"/>
              <a:t>100,150</a:t>
            </a:r>
            <a:r>
              <a:rPr lang="zh-CN" altLang="en-US"/>
              <a:t>）代表想要让视觉纠正的圆心坐标。在视觉模块上的像素坐标点。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2657475" y="2294890"/>
            <a:ext cx="4664075" cy="21209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790" y="152400"/>
            <a:ext cx="7245350" cy="65532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70495" y="485775"/>
            <a:ext cx="4064000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圆心函数说明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SET_LOCATION_X    ,    </a:t>
            </a:r>
            <a:r>
              <a:rPr lang="en-US" altLang="zh-CN">
                <a:sym typeface="+mn-ea"/>
              </a:rPr>
              <a:t>SET_LOCATION_Y</a:t>
            </a:r>
            <a:endParaRPr lang="en-US" altLang="zh-CN">
              <a:sym typeface="+mn-ea"/>
            </a:endParaRPr>
          </a:p>
          <a:p>
            <a:r>
              <a:rPr lang="zh-CN" altLang="en-US"/>
              <a:t>为设定的目标圆心像素坐标点，</a:t>
            </a:r>
            <a:endParaRPr lang="zh-CN" altLang="en-US"/>
          </a:p>
          <a:p>
            <a:r>
              <a:rPr lang="en-US" altLang="zh-CN"/>
              <a:t>cartesian_loc.x    ,     </a:t>
            </a:r>
            <a:r>
              <a:rPr lang="en-US" altLang="zh-CN">
                <a:sym typeface="+mn-ea"/>
              </a:rPr>
              <a:t>cartesian_loc.y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为实时反馈的视觉圆心识别坐标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将他们的误差作差，得到</a:t>
            </a:r>
            <a:r>
              <a:rPr lang="en-US" altLang="zh-CN">
                <a:sym typeface="+mn-ea"/>
              </a:rPr>
              <a:t>x_err[0],y_err[0],x</a:t>
            </a:r>
            <a:r>
              <a:rPr lang="zh-CN" altLang="en-US">
                <a:sym typeface="+mn-ea"/>
              </a:rPr>
              <a:t>与</a:t>
            </a:r>
            <a:r>
              <a:rPr lang="en-US" altLang="zh-CN">
                <a:sym typeface="+mn-ea"/>
              </a:rPr>
              <a:t>y</a:t>
            </a:r>
            <a:r>
              <a:rPr lang="zh-CN" altLang="en-US">
                <a:sym typeface="+mn-ea"/>
              </a:rPr>
              <a:t>方向的误差累计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通过比例系数转换，</a:t>
            </a:r>
            <a:r>
              <a:rPr lang="en-US" altLang="zh-CN">
                <a:sym typeface="+mn-ea"/>
              </a:rPr>
              <a:t>xout,yout</a:t>
            </a:r>
            <a:r>
              <a:rPr lang="zh-CN" altLang="en-US">
                <a:sym typeface="+mn-ea"/>
              </a:rPr>
              <a:t>为最终误差方向的速度差。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174</a:t>
            </a:r>
            <a:r>
              <a:rPr lang="zh-CN" altLang="en-US">
                <a:sym typeface="+mn-ea"/>
              </a:rPr>
              <a:t>行，判断</a:t>
            </a:r>
            <a:r>
              <a:rPr lang="en-US" altLang="zh-CN">
                <a:sym typeface="+mn-ea"/>
              </a:rPr>
              <a:t>ABS</a:t>
            </a:r>
            <a:r>
              <a:rPr lang="zh-CN" altLang="en-US">
                <a:sym typeface="+mn-ea"/>
              </a:rPr>
              <a:t>绝对值误差小于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，则满足误差范围退出，</a:t>
            </a:r>
            <a:r>
              <a:rPr lang="en-US" altLang="zh-CN">
                <a:sym typeface="+mn-ea"/>
              </a:rPr>
              <a:t>ChassisSpeed_Set(0,0);//</a:t>
            </a:r>
            <a:r>
              <a:rPr lang="zh-CN" altLang="en-US">
                <a:sym typeface="+mn-ea"/>
              </a:rPr>
              <a:t>底盘以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的速度运行，即停止底盘运动。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如果不满足误差范围，则根据误差值作为底盘移动修正速度，误差越小底盘速度越小，最终误差满足范围条件，</a:t>
            </a:r>
            <a:r>
              <a:rPr lang="zh-CN" altLang="en-US">
                <a:sym typeface="+mn-ea"/>
              </a:rPr>
              <a:t>停止底盘运动，达到通过视觉识别，修正位置的效果。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9920" y="231140"/>
            <a:ext cx="8778240" cy="37496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651125" y="2428240"/>
            <a:ext cx="4664075" cy="21209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25" y="309245"/>
            <a:ext cx="7920355" cy="5892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660640" y="164719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采用</a:t>
            </a:r>
            <a:r>
              <a:rPr lang="en-US" altLang="zh-CN"/>
              <a:t>2</a:t>
            </a:r>
            <a:r>
              <a:rPr lang="zh-CN" altLang="en-US"/>
              <a:t>个</a:t>
            </a:r>
            <a:r>
              <a:rPr lang="en-US" altLang="zh-CN"/>
              <a:t>For</a:t>
            </a:r>
            <a:r>
              <a:rPr lang="zh-CN" altLang="en-US"/>
              <a:t>循环，</a:t>
            </a:r>
            <a:r>
              <a:rPr lang="en-US" altLang="zh-CN"/>
              <a:t>i</a:t>
            </a:r>
            <a:r>
              <a:rPr lang="zh-CN" altLang="en-US"/>
              <a:t>由</a:t>
            </a:r>
            <a:r>
              <a:rPr lang="en-US" altLang="zh-CN"/>
              <a:t>0</a:t>
            </a:r>
            <a:r>
              <a:rPr lang="zh-CN" altLang="en-US"/>
              <a:t>加到</a:t>
            </a:r>
            <a:r>
              <a:rPr lang="en-US" altLang="zh-CN"/>
              <a:t>2</a:t>
            </a:r>
            <a:r>
              <a:rPr lang="zh-CN" altLang="en-US"/>
              <a:t>，实现内部的</a:t>
            </a:r>
            <a:r>
              <a:rPr lang="en-US" altLang="zh-CN"/>
              <a:t>3</a:t>
            </a:r>
            <a:r>
              <a:rPr lang="zh-CN" altLang="en-US"/>
              <a:t>次循环，执行了</a:t>
            </a:r>
            <a:r>
              <a:rPr lang="en-US" altLang="zh-CN"/>
              <a:t>Get_1</a:t>
            </a:r>
            <a:r>
              <a:rPr lang="zh-CN" altLang="en-US"/>
              <a:t>，</a:t>
            </a:r>
            <a:r>
              <a:rPr lang="en-US" altLang="zh-CN">
                <a:sym typeface="+mn-ea"/>
              </a:rPr>
              <a:t>Get_2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Get_3</a:t>
            </a:r>
            <a:r>
              <a:rPr lang="zh-CN" altLang="en-US">
                <a:sym typeface="+mn-ea"/>
              </a:rPr>
              <a:t>代表冲在料仓中取物料的动作组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Put_Red,</a:t>
            </a:r>
            <a:r>
              <a:rPr lang="en-US" altLang="zh-CN">
                <a:sym typeface="+mn-ea"/>
              </a:rPr>
              <a:t>Put_Green,Put_Blue</a:t>
            </a:r>
            <a:r>
              <a:rPr lang="zh-CN" altLang="en-US">
                <a:sym typeface="+mn-ea"/>
              </a:rPr>
              <a:t>表示放置到对应颜色色环的动作组。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426</a:t>
            </a:r>
            <a:r>
              <a:rPr lang="zh-CN" altLang="en-US">
                <a:sym typeface="+mn-ea"/>
              </a:rPr>
              <a:t>行</a:t>
            </a:r>
            <a:r>
              <a:rPr lang="en-US" altLang="zh-CN">
                <a:sym typeface="+mn-ea"/>
              </a:rPr>
              <a:t>for</a:t>
            </a:r>
            <a:r>
              <a:rPr lang="zh-CN" altLang="en-US">
                <a:sym typeface="+mn-ea"/>
              </a:rPr>
              <a:t>循环表示从料仓中取物料放置到色环。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442</a:t>
            </a:r>
            <a:r>
              <a:rPr lang="zh-CN" altLang="en-US">
                <a:sym typeface="+mn-ea"/>
              </a:rPr>
              <a:t>行</a:t>
            </a:r>
            <a:r>
              <a:rPr lang="en-US" altLang="zh-CN">
                <a:sym typeface="+mn-ea"/>
              </a:rPr>
              <a:t>for</a:t>
            </a:r>
            <a:r>
              <a:rPr lang="zh-CN" altLang="en-US">
                <a:sym typeface="+mn-ea"/>
              </a:rPr>
              <a:t>循环表示取回取对应色环的物料，放置达料仓中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9920" y="231140"/>
            <a:ext cx="8778240" cy="37496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613025" y="2599690"/>
            <a:ext cx="4664075" cy="21209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9175" y="215900"/>
            <a:ext cx="7414895" cy="591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1809"/>
          <a:stretch>
            <a:fillRect/>
          </a:stretch>
        </p:blipFill>
        <p:spPr>
          <a:xfrm>
            <a:off x="146050" y="1365250"/>
            <a:ext cx="6539865" cy="26320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150" y="276225"/>
            <a:ext cx="5854065" cy="5981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1809"/>
          <a:stretch>
            <a:fillRect/>
          </a:stretch>
        </p:blipFill>
        <p:spPr>
          <a:xfrm>
            <a:off x="146050" y="1365250"/>
            <a:ext cx="6539865" cy="2632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50" y="254000"/>
            <a:ext cx="5053965" cy="6514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5a3e3d22-ded8-403f-b426-94cc7b0b2c16"/>
  <p:tag name="COMMONDATA" val="eyJjb3VudCI6NDMsImhkaWQiOiI0MmY2NDM2YzAyYzk2NzFlOTNhMDM0MzgwZDE3MzgyNSIsInVzZXJDb3VudCI6OH0="/>
  <p:tag name="commondata" val="eyJjb3VudCI6NDQsImhkaWQiOiI0MmY2NDM2YzAyYzk2NzFlOTNhMDM0MzgwZDE3MzgyNSIsInVzZXJDb3VudCI6OX0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</Words>
  <Application>WPS 演示</Application>
  <PresentationFormat>宽屏</PresentationFormat>
  <Paragraphs>51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华文中宋</vt:lpstr>
      <vt:lpstr>微软雅黑</vt:lpstr>
      <vt:lpstr>Arial Unicode MS</vt:lpstr>
      <vt:lpstr>Calibri Light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尹 欢</dc:creator>
  <cp:lastModifiedBy>铭</cp:lastModifiedBy>
  <cp:revision>117</cp:revision>
  <dcterms:created xsi:type="dcterms:W3CDTF">2020-04-19T08:48:00Z</dcterms:created>
  <dcterms:modified xsi:type="dcterms:W3CDTF">2025-10-30T07:50:27Z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KSOTemplateUUID">
    <vt:lpwstr>v1.0_mb_DVyaBcp9DiSV//+fg7Cmpw==</vt:lpwstr>
  </property>
  <property fmtid="{D5CDD505-2E9C-101B-9397-08002B2CF9AE}" pid="4" name="ICV">
    <vt:lpwstr>1E3CB958E53D453D9077C818F56F0FFE_13</vt:lpwstr>
  </property>
</Properties>
</file>